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62088"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475488"/>
            <a:ext cx="6126480" cy="384048"/>
          </a:xfrm>
          <a:prstGeom prst="rect">
            <a:avLst/>
          </a:prstGeom>
          <a:noFill/>
        </p:spPr>
        <p:txBody>
          <a:bodyPr wrap="square" lIns="0" rIns="0" tIns="0" bIns="0">
            <a:spAutoFit/>
          </a:bodyPr>
          <a:lstStyle/>
          <a:p>
            <a:pPr algn="l">
              <a:spcAft>
                <a:spcPts val="0"/>
              </a:spcAft>
            </a:pPr>
            <a:r>
              <a:rPr sz="2400" b="1">
                <a:solidFill>
                  <a:srgbClr val="141414"/>
                </a:solidFill>
                <a:latin typeface="Arial"/>
              </a:rPr>
              <a:t>INSTALACIÓN CUERPO TRAVESÍA</a:t>
            </a:r>
          </a:p>
        </p:txBody>
      </p:sp>
      <p:sp>
        <p:nvSpPr>
          <p:cNvPr id="3" name="TextBox 2"/>
          <p:cNvSpPr txBox="1"/>
          <p:nvPr/>
        </p:nvSpPr>
        <p:spPr>
          <a:xfrm>
            <a:off x="548640" y="932688"/>
            <a:ext cx="5943600" cy="256032"/>
          </a:xfrm>
          <a:prstGeom prst="rect">
            <a:avLst/>
          </a:prstGeom>
          <a:noFill/>
        </p:spPr>
        <p:txBody>
          <a:bodyPr wrap="square" lIns="0" rIns="0" tIns="0" bIns="0">
            <a:spAutoFit/>
          </a:bodyPr>
          <a:lstStyle/>
          <a:p>
            <a:pPr algn="l">
              <a:spcAft>
                <a:spcPts val="0"/>
              </a:spcAft>
            </a:pPr>
            <a:r>
              <a:rPr sz="950" b="0">
                <a:solidFill>
                  <a:srgbClr val="646464"/>
                </a:solidFill>
                <a:latin typeface="Arial"/>
              </a:rPr>
              <a:t>Fin de curso · Intermediae Matadero · Madrid · mayo de 2025</a:t>
            </a:r>
          </a:p>
        </p:txBody>
      </p:sp>
      <p:sp>
        <p:nvSpPr>
          <p:cNvPr id="4" name="Rectangle 3"/>
          <p:cNvSpPr/>
          <p:nvPr/>
        </p:nvSpPr>
        <p:spPr>
          <a:xfrm>
            <a:off x="502920" y="1307592"/>
            <a:ext cx="6556248" cy="10972"/>
          </a:xfrm>
          <a:prstGeom prst="rect">
            <a:avLst/>
          </a:prstGeom>
          <a:solidFill>
            <a:srgbClr val="CD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81912"/>
            <a:ext cx="4023360" cy="256032"/>
          </a:xfrm>
          <a:prstGeom prst="rect">
            <a:avLst/>
          </a:prstGeom>
          <a:noFill/>
        </p:spPr>
        <p:txBody>
          <a:bodyPr wrap="square" lIns="0" rIns="0" tIns="0" bIns="0">
            <a:spAutoFit/>
          </a:bodyPr>
          <a:lstStyle/>
          <a:p>
            <a:pPr algn="l">
              <a:spcAft>
                <a:spcPts val="0"/>
              </a:spcAft>
            </a:pPr>
            <a:r>
              <a:rPr sz="1000" b="1">
                <a:solidFill>
                  <a:srgbClr val="646464"/>
                </a:solidFill>
                <a:latin typeface="Arial"/>
              </a:rPr>
              <a:t>CUERPO, TEJIDO Y RECORRIDO</a:t>
            </a:r>
          </a:p>
        </p:txBody>
      </p:sp>
      <p:sp>
        <p:nvSpPr>
          <p:cNvPr id="6" name="TextBox 5"/>
          <p:cNvSpPr txBox="1"/>
          <p:nvPr/>
        </p:nvSpPr>
        <p:spPr>
          <a:xfrm>
            <a:off x="548640" y="1938528"/>
            <a:ext cx="6419088" cy="1691640"/>
          </a:xfrm>
          <a:prstGeom prst="rect">
            <a:avLst/>
          </a:prstGeom>
          <a:noFill/>
        </p:spPr>
        <p:txBody>
          <a:bodyPr wrap="square" lIns="0" rIns="0" tIns="0" bIns="0">
            <a:spAutoFit/>
          </a:bodyPr>
          <a:lstStyle/>
          <a:p>
            <a:pPr algn="l">
              <a:spcAft>
                <a:spcPts val="0"/>
              </a:spcAft>
            </a:pPr>
            <a:r>
              <a:rPr sz="1130" b="0">
                <a:solidFill>
                  <a:srgbClr val="141414"/>
                </a:solidFill>
                <a:latin typeface="Arial"/>
              </a:rPr>
              <a:t>Cuerpo Travesía es una instalación efímera concebida para transformar la nave mediante el tejido y la participación. La estructura existente -especialmente la secuencia de columnas- se utiliza como soporte para tender planos de trapillo que atraviesan el espacio y construyen límites permeables. El visitante no contempla la obra desde fuera: la recorre, la rodea y la atraviesa.
El proyecto parte de una acción manual y colectiva. Los tejidos se construyen durante el montaje y funcionan a la vez como arquitectura, obra y dispositivo de relación. La intervención se completa con piezas textiles, mobiliario, tarimas, sonido, pantalla y muestras de los participantes, integrados dentro de una misma travesía espacial.</a:t>
            </a:r>
          </a:p>
        </p:txBody>
      </p:sp>
      <p:pic>
        <p:nvPicPr>
          <p:cNvPr id="7" name="Picture 6" descr="93341909-daa8-4cb1-9d6e-64d2a541a2a2.png"/>
          <p:cNvPicPr>
            <a:picLocks noChangeAspect="1"/>
          </p:cNvPicPr>
          <p:nvPr/>
        </p:nvPicPr>
        <p:blipFill>
          <a:blip r:embed="rId2"/>
          <a:stretch>
            <a:fillRect/>
          </a:stretch>
        </p:blipFill>
        <p:spPr>
          <a:xfrm>
            <a:off x="656082" y="3822191"/>
            <a:ext cx="6240779" cy="4160520"/>
          </a:xfrm>
          <a:prstGeom prst="rect">
            <a:avLst/>
          </a:prstGeom>
        </p:spPr>
      </p:pic>
      <p:sp>
        <p:nvSpPr>
          <p:cNvPr id="8" name="TextBox 7"/>
          <p:cNvSpPr txBox="1"/>
          <p:nvPr/>
        </p:nvSpPr>
        <p:spPr>
          <a:xfrm>
            <a:off x="548640" y="8074152"/>
            <a:ext cx="6217920" cy="201168"/>
          </a:xfrm>
          <a:prstGeom prst="rect">
            <a:avLst/>
          </a:prstGeom>
          <a:noFill/>
        </p:spPr>
        <p:txBody>
          <a:bodyPr wrap="square" lIns="0" rIns="0" tIns="0" bIns="0">
            <a:spAutoFit/>
          </a:bodyPr>
          <a:lstStyle/>
          <a:p>
            <a:pPr algn="l">
              <a:spcAft>
                <a:spcPts val="0"/>
              </a:spcAft>
            </a:pPr>
            <a:r>
              <a:rPr sz="850" b="0">
                <a:solidFill>
                  <a:srgbClr val="646464"/>
                </a:solidFill>
                <a:latin typeface="Arial"/>
              </a:rPr>
              <a:t>Plano, croquis y sistema de montaje de la propuesta.</a:t>
            </a:r>
          </a:p>
        </p:txBody>
      </p:sp>
      <p:sp>
        <p:nvSpPr>
          <p:cNvPr id="9" name="Rectangle 8"/>
          <p:cNvSpPr/>
          <p:nvPr/>
        </p:nvSpPr>
        <p:spPr>
          <a:xfrm>
            <a:off x="502920" y="8485632"/>
            <a:ext cx="6556248" cy="10972"/>
          </a:xfrm>
          <a:prstGeom prst="rect">
            <a:avLst/>
          </a:prstGeom>
          <a:solidFill>
            <a:srgbClr val="CD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8732520"/>
            <a:ext cx="1828800" cy="237744"/>
          </a:xfrm>
          <a:prstGeom prst="rect">
            <a:avLst/>
          </a:prstGeom>
          <a:noFill/>
        </p:spPr>
        <p:txBody>
          <a:bodyPr wrap="square" lIns="0" rIns="0" tIns="0" bIns="0">
            <a:spAutoFit/>
          </a:bodyPr>
          <a:lstStyle/>
          <a:p>
            <a:pPr algn="l">
              <a:spcAft>
                <a:spcPts val="0"/>
              </a:spcAft>
            </a:pPr>
            <a:r>
              <a:rPr sz="1000" b="1">
                <a:solidFill>
                  <a:srgbClr val="646464"/>
                </a:solidFill>
                <a:latin typeface="Arial"/>
              </a:rPr>
              <a:t>SISTEMA ESPACIAL</a:t>
            </a:r>
          </a:p>
        </p:txBody>
      </p:sp>
      <p:sp>
        <p:nvSpPr>
          <p:cNvPr id="11" name="TextBox 10"/>
          <p:cNvSpPr txBox="1"/>
          <p:nvPr/>
        </p:nvSpPr>
        <p:spPr>
          <a:xfrm>
            <a:off x="548640" y="9052560"/>
            <a:ext cx="6400800" cy="987552"/>
          </a:xfrm>
          <a:prstGeom prst="rect">
            <a:avLst/>
          </a:prstGeom>
          <a:noFill/>
        </p:spPr>
        <p:txBody>
          <a:bodyPr wrap="square" lIns="0" rIns="0" tIns="0" bIns="0">
            <a:spAutoFit/>
          </a:bodyPr>
          <a:lstStyle/>
          <a:p>
            <a:pPr algn="l">
              <a:spcAft>
                <a:spcPts val="0"/>
              </a:spcAft>
            </a:pPr>
            <a:r>
              <a:rPr sz="1080" b="0">
                <a:solidFill>
                  <a:srgbClr val="141414"/>
                </a:solidFill>
                <a:latin typeface="Arial"/>
              </a:rPr>
              <a:t>Siete tramos de tejido se disponen entre pares de columnas, aproximadamente entre 0,80 y 1,40 m de altura. La tensión del trapillo dibuja recorridos, separa sin cerrar y mantiene visible la arquitectura de la nave. La instalación se entiende como una arquitectura blanda: ligera, reversible y construida con el mínimo de elementos añadidos.</a:t>
            </a:r>
          </a:p>
        </p:txBody>
      </p:sp>
      <p:sp>
        <p:nvSpPr>
          <p:cNvPr id="12" name="TextBox 11"/>
          <p:cNvSpPr txBox="1"/>
          <p:nvPr/>
        </p:nvSpPr>
        <p:spPr>
          <a:xfrm>
            <a:off x="548640" y="10259568"/>
            <a:ext cx="3657600" cy="182880"/>
          </a:xfrm>
          <a:prstGeom prst="rect">
            <a:avLst/>
          </a:prstGeom>
          <a:noFill/>
        </p:spPr>
        <p:txBody>
          <a:bodyPr wrap="square" lIns="0" rIns="0" tIns="0" bIns="0">
            <a:spAutoFit/>
          </a:bodyPr>
          <a:lstStyle/>
          <a:p>
            <a:pPr algn="l">
              <a:spcAft>
                <a:spcPts val="0"/>
              </a:spcAft>
            </a:pPr>
            <a:r>
              <a:rPr sz="850" b="0">
                <a:solidFill>
                  <a:srgbClr val="646464"/>
                </a:solidFill>
                <a:latin typeface="Arial"/>
              </a:rPr>
              <a:t>Coreka · Carolina Quintero Arboleda</a:t>
            </a:r>
          </a:p>
        </p:txBody>
      </p:sp>
      <p:sp>
        <p:nvSpPr>
          <p:cNvPr id="13" name="TextBox 12"/>
          <p:cNvSpPr txBox="1"/>
          <p:nvPr/>
        </p:nvSpPr>
        <p:spPr>
          <a:xfrm>
            <a:off x="6537960" y="10259568"/>
            <a:ext cx="411480" cy="182880"/>
          </a:xfrm>
          <a:prstGeom prst="rect">
            <a:avLst/>
          </a:prstGeom>
          <a:noFill/>
        </p:spPr>
        <p:txBody>
          <a:bodyPr wrap="square" lIns="0" rIns="0" tIns="0" bIns="0">
            <a:spAutoFit/>
          </a:bodyPr>
          <a:lstStyle/>
          <a:p>
            <a:pPr algn="r">
              <a:spcAft>
                <a:spcPts val="0"/>
              </a:spcAft>
            </a:pPr>
            <a:r>
              <a:rPr sz="850" b="0">
                <a:solidFill>
                  <a:srgbClr val="646464"/>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475488"/>
            <a:ext cx="6126480" cy="365760"/>
          </a:xfrm>
          <a:prstGeom prst="rect">
            <a:avLst/>
          </a:prstGeom>
          <a:noFill/>
        </p:spPr>
        <p:txBody>
          <a:bodyPr wrap="square" lIns="0" rIns="0" tIns="0" bIns="0">
            <a:spAutoFit/>
          </a:bodyPr>
          <a:lstStyle/>
          <a:p>
            <a:pPr algn="l">
              <a:spcAft>
                <a:spcPts val="0"/>
              </a:spcAft>
            </a:pPr>
            <a:r>
              <a:rPr sz="2200" b="1">
                <a:solidFill>
                  <a:srgbClr val="141414"/>
                </a:solidFill>
                <a:latin typeface="Arial"/>
              </a:rPr>
              <a:t>DE LA PROPUESTA A LA INSTALACIÓN</a:t>
            </a:r>
          </a:p>
        </p:txBody>
      </p:sp>
      <p:sp>
        <p:nvSpPr>
          <p:cNvPr id="3" name="TextBox 2"/>
          <p:cNvSpPr txBox="1"/>
          <p:nvPr/>
        </p:nvSpPr>
        <p:spPr>
          <a:xfrm>
            <a:off x="548640" y="914400"/>
            <a:ext cx="5852160" cy="237744"/>
          </a:xfrm>
          <a:prstGeom prst="rect">
            <a:avLst/>
          </a:prstGeom>
          <a:noFill/>
        </p:spPr>
        <p:txBody>
          <a:bodyPr wrap="square" lIns="0" rIns="0" tIns="0" bIns="0">
            <a:spAutoFit/>
          </a:bodyPr>
          <a:lstStyle/>
          <a:p>
            <a:pPr algn="l">
              <a:spcAft>
                <a:spcPts val="0"/>
              </a:spcAft>
            </a:pPr>
            <a:r>
              <a:rPr sz="950" b="0">
                <a:solidFill>
                  <a:srgbClr val="646464"/>
                </a:solidFill>
                <a:latin typeface="Arial"/>
              </a:rPr>
              <a:t>Proceso de construcción, participación y ocupación del espacio</a:t>
            </a:r>
          </a:p>
        </p:txBody>
      </p:sp>
      <p:sp>
        <p:nvSpPr>
          <p:cNvPr id="4" name="Rectangle 3"/>
          <p:cNvSpPr/>
          <p:nvPr/>
        </p:nvSpPr>
        <p:spPr>
          <a:xfrm>
            <a:off x="502920" y="1280160"/>
            <a:ext cx="6556248" cy="10972"/>
          </a:xfrm>
          <a:prstGeom prst="rect">
            <a:avLst/>
          </a:prstGeom>
          <a:solidFill>
            <a:srgbClr val="CD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G-20250514-WA0018(5).jpg"/>
          <p:cNvPicPr>
            <a:picLocks noChangeAspect="1"/>
          </p:cNvPicPr>
          <p:nvPr/>
        </p:nvPicPr>
        <p:blipFill>
          <a:blip r:embed="rId2"/>
          <a:srcRect t="19953" b="19953"/>
          <a:stretch>
            <a:fillRect/>
          </a:stretch>
        </p:blipFill>
        <p:spPr>
          <a:xfrm>
            <a:off x="530352" y="1554480"/>
            <a:ext cx="6492240" cy="2926080"/>
          </a:xfrm>
          <a:prstGeom prst="rect">
            <a:avLst/>
          </a:prstGeom>
        </p:spPr>
      </p:pic>
      <p:sp>
        <p:nvSpPr>
          <p:cNvPr id="6" name="TextBox 5"/>
          <p:cNvSpPr txBox="1"/>
          <p:nvPr/>
        </p:nvSpPr>
        <p:spPr>
          <a:xfrm>
            <a:off x="548640" y="4553712"/>
            <a:ext cx="5486400" cy="182880"/>
          </a:xfrm>
          <a:prstGeom prst="rect">
            <a:avLst/>
          </a:prstGeom>
          <a:noFill/>
        </p:spPr>
        <p:txBody>
          <a:bodyPr wrap="square" lIns="0" rIns="0" tIns="0" bIns="0">
            <a:spAutoFit/>
          </a:bodyPr>
          <a:lstStyle/>
          <a:p>
            <a:pPr algn="l">
              <a:spcAft>
                <a:spcPts val="0"/>
              </a:spcAft>
            </a:pPr>
            <a:r>
              <a:rPr sz="850" b="0">
                <a:solidFill>
                  <a:srgbClr val="646464"/>
                </a:solidFill>
                <a:latin typeface="Arial"/>
              </a:rPr>
              <a:t>Construcción manual de las piezas textiles.</a:t>
            </a:r>
          </a:p>
        </p:txBody>
      </p:sp>
      <p:pic>
        <p:nvPicPr>
          <p:cNvPr id="7" name="Picture 6" descr="IMG-20250519-WA0028(2).jpg"/>
          <p:cNvPicPr>
            <a:picLocks noChangeAspect="1"/>
          </p:cNvPicPr>
          <p:nvPr/>
        </p:nvPicPr>
        <p:blipFill>
          <a:blip r:embed="rId3"/>
          <a:srcRect l="8774" r="8774"/>
          <a:stretch>
            <a:fillRect/>
          </a:stretch>
        </p:blipFill>
        <p:spPr>
          <a:xfrm>
            <a:off x="530352" y="4919472"/>
            <a:ext cx="3136392" cy="2852928"/>
          </a:xfrm>
          <a:prstGeom prst="rect">
            <a:avLst/>
          </a:prstGeom>
        </p:spPr>
      </p:pic>
      <p:pic>
        <p:nvPicPr>
          <p:cNvPr id="8" name="Picture 7" descr="IMG-20250519-WA0044.jpg"/>
          <p:cNvPicPr>
            <a:picLocks noChangeAspect="1"/>
          </p:cNvPicPr>
          <p:nvPr/>
        </p:nvPicPr>
        <p:blipFill>
          <a:blip r:embed="rId4"/>
          <a:srcRect t="15889" b="15889"/>
          <a:stretch>
            <a:fillRect/>
          </a:stretch>
        </p:blipFill>
        <p:spPr>
          <a:xfrm>
            <a:off x="3886200" y="4919472"/>
            <a:ext cx="3136392" cy="2852928"/>
          </a:xfrm>
          <a:prstGeom prst="rect">
            <a:avLst/>
          </a:prstGeom>
        </p:spPr>
      </p:pic>
      <p:sp>
        <p:nvSpPr>
          <p:cNvPr id="9" name="TextBox 8"/>
          <p:cNvSpPr txBox="1"/>
          <p:nvPr/>
        </p:nvSpPr>
        <p:spPr>
          <a:xfrm>
            <a:off x="548640" y="7845552"/>
            <a:ext cx="2926080" cy="182880"/>
          </a:xfrm>
          <a:prstGeom prst="rect">
            <a:avLst/>
          </a:prstGeom>
          <a:noFill/>
        </p:spPr>
        <p:txBody>
          <a:bodyPr wrap="square" lIns="0" rIns="0" tIns="0" bIns="0">
            <a:spAutoFit/>
          </a:bodyPr>
          <a:lstStyle/>
          <a:p>
            <a:pPr algn="l">
              <a:spcAft>
                <a:spcPts val="0"/>
              </a:spcAft>
            </a:pPr>
            <a:r>
              <a:rPr sz="850" b="0">
                <a:solidFill>
                  <a:srgbClr val="646464"/>
                </a:solidFill>
                <a:latin typeface="Arial"/>
              </a:rPr>
              <a:t>Participación y tejido colectivo.</a:t>
            </a:r>
          </a:p>
        </p:txBody>
      </p:sp>
      <p:sp>
        <p:nvSpPr>
          <p:cNvPr id="10" name="TextBox 9"/>
          <p:cNvSpPr txBox="1"/>
          <p:nvPr/>
        </p:nvSpPr>
        <p:spPr>
          <a:xfrm>
            <a:off x="3886200" y="7845552"/>
            <a:ext cx="3063240" cy="182880"/>
          </a:xfrm>
          <a:prstGeom prst="rect">
            <a:avLst/>
          </a:prstGeom>
          <a:noFill/>
        </p:spPr>
        <p:txBody>
          <a:bodyPr wrap="square" lIns="0" rIns="0" tIns="0" bIns="0">
            <a:spAutoFit/>
          </a:bodyPr>
          <a:lstStyle/>
          <a:p>
            <a:pPr algn="l">
              <a:spcAft>
                <a:spcPts val="0"/>
              </a:spcAft>
            </a:pPr>
            <a:r>
              <a:rPr sz="850" b="0">
                <a:solidFill>
                  <a:srgbClr val="646464"/>
                </a:solidFill>
                <a:latin typeface="Arial"/>
              </a:rPr>
              <a:t>Implantación del tejido entre columnas.</a:t>
            </a:r>
          </a:p>
        </p:txBody>
      </p:sp>
      <p:sp>
        <p:nvSpPr>
          <p:cNvPr id="11" name="Rectangle 10"/>
          <p:cNvSpPr/>
          <p:nvPr/>
        </p:nvSpPr>
        <p:spPr>
          <a:xfrm>
            <a:off x="502920" y="8211312"/>
            <a:ext cx="6556248" cy="10972"/>
          </a:xfrm>
          <a:prstGeom prst="rect">
            <a:avLst/>
          </a:prstGeom>
          <a:solidFill>
            <a:srgbClr val="CD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8458200"/>
            <a:ext cx="3200400" cy="237744"/>
          </a:xfrm>
          <a:prstGeom prst="rect">
            <a:avLst/>
          </a:prstGeom>
          <a:noFill/>
        </p:spPr>
        <p:txBody>
          <a:bodyPr wrap="square" lIns="0" rIns="0" tIns="0" bIns="0">
            <a:spAutoFit/>
          </a:bodyPr>
          <a:lstStyle/>
          <a:p>
            <a:pPr algn="l">
              <a:spcAft>
                <a:spcPts val="0"/>
              </a:spcAft>
            </a:pPr>
            <a:r>
              <a:rPr sz="1000" b="1">
                <a:solidFill>
                  <a:srgbClr val="646464"/>
                </a:solidFill>
                <a:latin typeface="Arial"/>
              </a:rPr>
              <a:t>LA TRAVESÍA COMO OBRA COLECTIVA</a:t>
            </a:r>
          </a:p>
        </p:txBody>
      </p:sp>
      <p:sp>
        <p:nvSpPr>
          <p:cNvPr id="13" name="TextBox 12"/>
          <p:cNvSpPr txBox="1"/>
          <p:nvPr/>
        </p:nvSpPr>
        <p:spPr>
          <a:xfrm>
            <a:off x="548640" y="8778240"/>
            <a:ext cx="6400800" cy="1207008"/>
          </a:xfrm>
          <a:prstGeom prst="rect">
            <a:avLst/>
          </a:prstGeom>
          <a:noFill/>
        </p:spPr>
        <p:txBody>
          <a:bodyPr wrap="square" lIns="0" rIns="0" tIns="0" bIns="0">
            <a:spAutoFit/>
          </a:bodyPr>
          <a:lstStyle/>
          <a:p>
            <a:pPr algn="l">
              <a:spcAft>
                <a:spcPts val="0"/>
              </a:spcAft>
            </a:pPr>
            <a:r>
              <a:rPr sz="1070" b="0">
                <a:solidFill>
                  <a:srgbClr val="141414"/>
                </a:solidFill>
                <a:latin typeface="Arial"/>
              </a:rPr>
              <a:t>El montaje confirma la idea inicial: el tejido no funciona como decoración, sino como una estructura espacial que modifica la circulación y hace visible la acción de quienes participan. Los nudos, tensiones y fragmentos de color registran el proceso y convierten la instalación en una obra abierta.
Cuerpo Travesía se completa cuando el espacio es ocupado. La pieza existe en el encuentro entre la arquitectura industrial de Matadero, el trabajo manual y los cuerpos que la atraviesan. Al desmontarse, desaparece la arquitectura temporal, pero permanece el tejido como memoria material de la experiencia.</a:t>
            </a:r>
          </a:p>
        </p:txBody>
      </p:sp>
      <p:sp>
        <p:nvSpPr>
          <p:cNvPr id="14" name="TextBox 13"/>
          <p:cNvSpPr txBox="1"/>
          <p:nvPr/>
        </p:nvSpPr>
        <p:spPr>
          <a:xfrm>
            <a:off x="548640" y="10259568"/>
            <a:ext cx="4754880" cy="182880"/>
          </a:xfrm>
          <a:prstGeom prst="rect">
            <a:avLst/>
          </a:prstGeom>
          <a:noFill/>
        </p:spPr>
        <p:txBody>
          <a:bodyPr wrap="square" lIns="0" rIns="0" tIns="0" bIns="0">
            <a:spAutoFit/>
          </a:bodyPr>
          <a:lstStyle/>
          <a:p>
            <a:pPr algn="l">
              <a:spcAft>
                <a:spcPts val="0"/>
              </a:spcAft>
            </a:pPr>
            <a:r>
              <a:rPr sz="850" b="1">
                <a:solidFill>
                  <a:srgbClr val="646464"/>
                </a:solidFill>
                <a:latin typeface="Arial"/>
              </a:rPr>
              <a:t>INSTALACIÓN CUERPO TRAVESÍA · FIN DE CURSO</a:t>
            </a:r>
          </a:p>
        </p:txBody>
      </p:sp>
      <p:sp>
        <p:nvSpPr>
          <p:cNvPr id="15" name="TextBox 14"/>
          <p:cNvSpPr txBox="1"/>
          <p:nvPr/>
        </p:nvSpPr>
        <p:spPr>
          <a:xfrm>
            <a:off x="6537960" y="10259568"/>
            <a:ext cx="411480" cy="182880"/>
          </a:xfrm>
          <a:prstGeom prst="rect">
            <a:avLst/>
          </a:prstGeom>
          <a:noFill/>
        </p:spPr>
        <p:txBody>
          <a:bodyPr wrap="square" lIns="0" rIns="0" tIns="0" bIns="0">
            <a:spAutoFit/>
          </a:bodyPr>
          <a:lstStyle/>
          <a:p>
            <a:pPr algn="r">
              <a:spcAft>
                <a:spcPts val="0"/>
              </a:spcAft>
            </a:pPr>
            <a:r>
              <a:rPr sz="850" b="0">
                <a:solidFill>
                  <a:srgbClr val="646464"/>
                </a:solidFill>
                <a:latin typeface="Arial"/>
              </a:rPr>
              <a:t>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