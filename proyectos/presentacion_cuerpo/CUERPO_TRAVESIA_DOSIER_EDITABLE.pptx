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Proyecto COREKA. Fotografía original de Tolerancia expuesta bajo iluminación en Matadero. Archivo local: assets/a94ac5432af365bebcc80bdf.jpg. Documentación: Instalacion_Cuerpo_Travesia.pdf.</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Texto basado en la presentación original Instalacion_Cuerpo_Travesia.pdf. Fotografía original: 0136_IMG-20250519-WA0044_1500x2000.jpg. No se han alterado los tejidos ni generado fotografías.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Diagrama editorial del proceso, construido con texto y conectores editables en PowerPoint. Secuencia sintetizada a partir del dossier original y sus fotografías. No es un plano de montaje ni una reproducción a escala.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Plano y datos tomados de Instalacion_Cuerpo_Travesia.pdf. Imagen original extraída íntegra de la presentación: original_0_1.png. Los siete tramos y las alturas son previsiones del proyecto original, no medidas verificadas de una futura adaptación.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Fotografía original de preparación manual de Tolerancia. Fuente: 0134_IMG-20250514-WA0018_2040x1530.jpg. Se conserva el registro original sin recrear la obra.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Fotografía original de participación en Matadero: 0135_IMG-20250519-WA0028_2048x1536.jpg. Síntesis basada en la sección La travesía como obra colectiva de la presentación original.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Propuesta de comunicación para futuras presentaciones, no un compromiso técnico cerrado. Los criterios de adaptación se plantean como trabajo previo con cada sede. No se inventan presupuestos, aforos ni tiempos de montaje.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Fotografía original de la instalación en Matadero: assets/04b09efc65ab62b5891ababd.jpg. Identidad de autora tomada de la documentación de COREKA. No se añaden datos de contacto no confirmados.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58800" y="279400"/>
            <a:ext cx="3175000" cy="228600"/>
          </a:xfrm>
          <a:prstGeom prst="rect">
            <a:avLst/>
          </a:prstGeom>
          <a:noFill/>
        </p:spPr>
        <p:txBody>
          <a:bodyPr wrap="square" lIns="0" rIns="0" tIns="0" bIns="0">
            <a:spAutoFit/>
          </a:bodyPr>
          <a:lstStyle/>
          <a:p>
            <a:pPr>
              <a:lnSpc>
                <a:spcPts val="1250"/>
              </a:lnSpc>
              <a:spcBef>
                <a:spcPts val="0"/>
              </a:spcBef>
              <a:spcAft>
                <a:spcPts val="0"/>
              </a:spcAft>
              <a:defRPr sz="1000" b="1">
                <a:solidFill>
                  <a:srgbClr val="1A2421"/>
                </a:solidFill>
                <a:latin typeface="Arial"/>
              </a:defRPr>
            </a:pPr>
            <a:r>
              <a:t>COREKA</a:t>
            </a:r>
          </a:p>
        </p:txBody>
      </p:sp>
      <p:sp>
        <p:nvSpPr>
          <p:cNvPr id="3" name="TextBox 2"/>
          <p:cNvSpPr txBox="1"/>
          <p:nvPr/>
        </p:nvSpPr>
        <p:spPr>
          <a:xfrm>
            <a:off x="11201400" y="279400"/>
            <a:ext cx="406400" cy="228600"/>
          </a:xfrm>
          <a:prstGeom prst="rect">
            <a:avLst/>
          </a:prstGeom>
          <a:noFill/>
        </p:spPr>
        <p:txBody>
          <a:bodyPr wrap="square" lIns="0" rIns="0" tIns="0" bIns="0">
            <a:spAutoFit/>
          </a:bodyPr>
          <a:lstStyle/>
          <a:p>
            <a:pPr>
              <a:lnSpc>
                <a:spcPts val="1250"/>
              </a:lnSpc>
              <a:spcBef>
                <a:spcPts val="0"/>
              </a:spcBef>
              <a:spcAft>
                <a:spcPts val="0"/>
              </a:spcAft>
              <a:defRPr sz="1000" b="0">
                <a:solidFill>
                  <a:srgbClr val="1A2421"/>
                </a:solidFill>
                <a:latin typeface="Arial"/>
              </a:defRPr>
            </a:pPr>
            <a:r>
              <a:t>01</a:t>
            </a:r>
          </a:p>
        </p:txBody>
      </p:sp>
      <p:pic>
        <p:nvPicPr>
          <p:cNvPr id="4" name="Picture 3" descr="a94ac5432af365bebcc80bdf.jpg"/>
          <p:cNvPicPr>
            <a:picLocks noChangeAspect="1"/>
          </p:cNvPicPr>
          <p:nvPr/>
        </p:nvPicPr>
        <p:blipFill>
          <a:blip r:embed="rId2"/>
          <a:srcRect l="11806" r="11806"/>
          <a:stretch>
            <a:fillRect/>
          </a:stretch>
        </p:blipFill>
        <p:spPr>
          <a:xfrm>
            <a:off x="5207000" y="0"/>
            <a:ext cx="6985000" cy="6858000"/>
          </a:xfrm>
          <a:prstGeom prst="rect">
            <a:avLst/>
          </a:prstGeom>
        </p:spPr>
      </p:pic>
      <p:sp>
        <p:nvSpPr>
          <p:cNvPr id="5" name="TextBox 4"/>
          <p:cNvSpPr txBox="1"/>
          <p:nvPr/>
        </p:nvSpPr>
        <p:spPr>
          <a:xfrm>
            <a:off x="558800" y="1651000"/>
            <a:ext cx="4508500" cy="2159000"/>
          </a:xfrm>
          <a:prstGeom prst="rect">
            <a:avLst/>
          </a:prstGeom>
          <a:noFill/>
        </p:spPr>
        <p:txBody>
          <a:bodyPr wrap="square" lIns="0" rIns="0" tIns="0" bIns="0">
            <a:spAutoFit/>
          </a:bodyPr>
          <a:lstStyle/>
          <a:p>
            <a:pPr>
              <a:lnSpc>
                <a:spcPts val="7625"/>
              </a:lnSpc>
              <a:spcBef>
                <a:spcPts val="0"/>
              </a:spcBef>
              <a:spcAft>
                <a:spcPts val="0"/>
              </a:spcAft>
              <a:defRPr sz="6100" b="0">
                <a:solidFill>
                  <a:srgbClr val="1A2421"/>
                </a:solidFill>
                <a:latin typeface="Georgia"/>
              </a:defRPr>
            </a:pPr>
            <a:r>
              <a:t>Cuerpo</a:t>
            </a:r>
          </a:p>
          <a:p>
            <a:pPr>
              <a:lnSpc>
                <a:spcPts val="7625"/>
              </a:lnSpc>
              <a:spcBef>
                <a:spcPts val="0"/>
              </a:spcBef>
              <a:spcAft>
                <a:spcPts val="0"/>
              </a:spcAft>
              <a:defRPr sz="6100" b="0">
                <a:solidFill>
                  <a:srgbClr val="1A2421"/>
                </a:solidFill>
                <a:latin typeface="Georgia"/>
              </a:defRPr>
            </a:pPr>
            <a:r>
              <a:t>Travesía</a:t>
            </a:r>
          </a:p>
        </p:txBody>
      </p:sp>
      <p:sp>
        <p:nvSpPr>
          <p:cNvPr id="6" name="TextBox 5"/>
          <p:cNvSpPr txBox="1"/>
          <p:nvPr/>
        </p:nvSpPr>
        <p:spPr>
          <a:xfrm>
            <a:off x="596900" y="4279900"/>
            <a:ext cx="4190999" cy="825500"/>
          </a:xfrm>
          <a:prstGeom prst="rect">
            <a:avLst/>
          </a:prstGeom>
          <a:noFill/>
        </p:spPr>
        <p:txBody>
          <a:bodyPr wrap="square" lIns="0" rIns="0" tIns="0" bIns="0">
            <a:spAutoFit/>
          </a:bodyPr>
          <a:lstStyle/>
          <a:p>
            <a:pPr>
              <a:lnSpc>
                <a:spcPts val="2625"/>
              </a:lnSpc>
              <a:spcBef>
                <a:spcPts val="0"/>
              </a:spcBef>
              <a:spcAft>
                <a:spcPts val="0"/>
              </a:spcAft>
              <a:defRPr sz="2100" b="0">
                <a:solidFill>
                  <a:srgbClr val="1A2421"/>
                </a:solidFill>
                <a:latin typeface="Arial"/>
              </a:defRPr>
            </a:pPr>
            <a:r>
              <a:t>Instalación textil participativa</a:t>
            </a:r>
          </a:p>
        </p:txBody>
      </p:sp>
      <p:sp>
        <p:nvSpPr>
          <p:cNvPr id="7" name="TextBox 6"/>
          <p:cNvSpPr txBox="1"/>
          <p:nvPr/>
        </p:nvSpPr>
        <p:spPr>
          <a:xfrm>
            <a:off x="596900" y="5588000"/>
            <a:ext cx="4190999" cy="787400"/>
          </a:xfrm>
          <a:prstGeom prst="rect">
            <a:avLst/>
          </a:prstGeom>
          <a:noFill/>
        </p:spPr>
        <p:txBody>
          <a:bodyPr wrap="square" lIns="0" rIns="0" tIns="0" bIns="0">
            <a:spAutoFit/>
          </a:bodyPr>
          <a:lstStyle/>
          <a:p>
            <a:pPr>
              <a:lnSpc>
                <a:spcPts val="2000"/>
              </a:lnSpc>
              <a:spcBef>
                <a:spcPts val="0"/>
              </a:spcBef>
              <a:spcAft>
                <a:spcPts val="0"/>
              </a:spcAft>
              <a:defRPr sz="1600" b="0">
                <a:solidFill>
                  <a:srgbClr val="65716A"/>
                </a:solidFill>
                <a:latin typeface="Arial"/>
              </a:defRPr>
            </a:pPr>
            <a:r>
              <a:t>Intermediae Matadero</a:t>
            </a:r>
          </a:p>
          <a:p>
            <a:pPr>
              <a:lnSpc>
                <a:spcPts val="2000"/>
              </a:lnSpc>
              <a:spcBef>
                <a:spcPts val="0"/>
              </a:spcBef>
              <a:spcAft>
                <a:spcPts val="0"/>
              </a:spcAft>
              <a:defRPr sz="1600" b="0">
                <a:solidFill>
                  <a:srgbClr val="65716A"/>
                </a:solidFill>
                <a:latin typeface="Arial"/>
              </a:defRPr>
            </a:pPr>
            <a:r>
              <a:t>Madrid, mayo de 2025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58800" y="279400"/>
            <a:ext cx="3175000" cy="228600"/>
          </a:xfrm>
          <a:prstGeom prst="rect">
            <a:avLst/>
          </a:prstGeom>
          <a:noFill/>
        </p:spPr>
        <p:txBody>
          <a:bodyPr wrap="square" lIns="0" rIns="0" tIns="0" bIns="0">
            <a:spAutoFit/>
          </a:bodyPr>
          <a:lstStyle/>
          <a:p>
            <a:pPr>
              <a:lnSpc>
                <a:spcPts val="1250"/>
              </a:lnSpc>
              <a:spcBef>
                <a:spcPts val="0"/>
              </a:spcBef>
              <a:spcAft>
                <a:spcPts val="0"/>
              </a:spcAft>
              <a:defRPr sz="1000" b="1">
                <a:solidFill>
                  <a:srgbClr val="1A2421"/>
                </a:solidFill>
                <a:latin typeface="Arial"/>
              </a:defRPr>
            </a:pPr>
            <a:r>
              <a:t>COREKA</a:t>
            </a:r>
          </a:p>
        </p:txBody>
      </p:sp>
      <p:sp>
        <p:nvSpPr>
          <p:cNvPr id="3" name="TextBox 2"/>
          <p:cNvSpPr txBox="1"/>
          <p:nvPr/>
        </p:nvSpPr>
        <p:spPr>
          <a:xfrm>
            <a:off x="11201400" y="279400"/>
            <a:ext cx="406400" cy="228600"/>
          </a:xfrm>
          <a:prstGeom prst="rect">
            <a:avLst/>
          </a:prstGeom>
          <a:noFill/>
        </p:spPr>
        <p:txBody>
          <a:bodyPr wrap="square" lIns="0" rIns="0" tIns="0" bIns="0">
            <a:spAutoFit/>
          </a:bodyPr>
          <a:lstStyle/>
          <a:p>
            <a:pPr>
              <a:lnSpc>
                <a:spcPts val="1250"/>
              </a:lnSpc>
              <a:spcBef>
                <a:spcPts val="0"/>
              </a:spcBef>
              <a:spcAft>
                <a:spcPts val="0"/>
              </a:spcAft>
              <a:defRPr sz="1000" b="0">
                <a:solidFill>
                  <a:srgbClr val="1A2421"/>
                </a:solidFill>
                <a:latin typeface="Arial"/>
              </a:defRPr>
            </a:pPr>
            <a:r>
              <a:t>02</a:t>
            </a:r>
          </a:p>
        </p:txBody>
      </p:sp>
      <p:sp>
        <p:nvSpPr>
          <p:cNvPr id="4" name="TextBox 3"/>
          <p:cNvSpPr txBox="1"/>
          <p:nvPr/>
        </p:nvSpPr>
        <p:spPr>
          <a:xfrm>
            <a:off x="558800" y="1092200"/>
            <a:ext cx="5334000" cy="1460500"/>
          </a:xfrm>
          <a:prstGeom prst="rect">
            <a:avLst/>
          </a:prstGeom>
          <a:noFill/>
        </p:spPr>
        <p:txBody>
          <a:bodyPr wrap="square" lIns="0" rIns="0" tIns="0" bIns="0">
            <a:spAutoFit/>
          </a:bodyPr>
          <a:lstStyle/>
          <a:p>
            <a:pPr>
              <a:lnSpc>
                <a:spcPts val="5125"/>
              </a:lnSpc>
              <a:spcBef>
                <a:spcPts val="0"/>
              </a:spcBef>
              <a:spcAft>
                <a:spcPts val="0"/>
              </a:spcAft>
              <a:defRPr sz="4100" b="0">
                <a:solidFill>
                  <a:srgbClr val="1A2421"/>
                </a:solidFill>
                <a:latin typeface="Georgia"/>
              </a:defRPr>
            </a:pPr>
            <a:r>
              <a:t>El tejido como</a:t>
            </a:r>
          </a:p>
          <a:p>
            <a:pPr>
              <a:lnSpc>
                <a:spcPts val="5125"/>
              </a:lnSpc>
              <a:spcBef>
                <a:spcPts val="0"/>
              </a:spcBef>
              <a:spcAft>
                <a:spcPts val="0"/>
              </a:spcAft>
              <a:defRPr sz="4100" b="0">
                <a:solidFill>
                  <a:srgbClr val="1A2421"/>
                </a:solidFill>
                <a:latin typeface="Georgia"/>
              </a:defRPr>
            </a:pPr>
            <a:r>
              <a:t>espacio compartido</a:t>
            </a:r>
          </a:p>
        </p:txBody>
      </p:sp>
      <p:sp>
        <p:nvSpPr>
          <p:cNvPr id="5" name="TextBox 4"/>
          <p:cNvSpPr txBox="1"/>
          <p:nvPr/>
        </p:nvSpPr>
        <p:spPr>
          <a:xfrm>
            <a:off x="584200" y="3162300"/>
            <a:ext cx="4635500" cy="1270000"/>
          </a:xfrm>
          <a:prstGeom prst="rect">
            <a:avLst/>
          </a:prstGeom>
          <a:noFill/>
        </p:spPr>
        <p:txBody>
          <a:bodyPr wrap="square" lIns="0" rIns="0" tIns="0" bIns="0">
            <a:spAutoFit/>
          </a:bodyPr>
          <a:lstStyle/>
          <a:p>
            <a:pPr>
              <a:lnSpc>
                <a:spcPts val="2750"/>
              </a:lnSpc>
              <a:spcBef>
                <a:spcPts val="0"/>
              </a:spcBef>
              <a:spcAft>
                <a:spcPts val="0"/>
              </a:spcAft>
              <a:defRPr sz="2200" b="0">
                <a:solidFill>
                  <a:srgbClr val="1A2421"/>
                </a:solidFill>
                <a:latin typeface="Arial"/>
              </a:defRPr>
            </a:pPr>
            <a:r>
              <a:t>Cuerpo Travesía transforma la nave</a:t>
            </a:r>
          </a:p>
          <a:p>
            <a:pPr>
              <a:lnSpc>
                <a:spcPts val="2750"/>
              </a:lnSpc>
              <a:spcBef>
                <a:spcPts val="0"/>
              </a:spcBef>
              <a:spcAft>
                <a:spcPts val="0"/>
              </a:spcAft>
              <a:defRPr sz="2200" b="0">
                <a:solidFill>
                  <a:srgbClr val="1A2421"/>
                </a:solidFill>
                <a:latin typeface="Arial"/>
              </a:defRPr>
            </a:pPr>
            <a:r>
              <a:t>mediante planos de trapillo tensados</a:t>
            </a:r>
          </a:p>
          <a:p>
            <a:pPr>
              <a:lnSpc>
                <a:spcPts val="2750"/>
              </a:lnSpc>
              <a:spcBef>
                <a:spcPts val="0"/>
              </a:spcBef>
              <a:spcAft>
                <a:spcPts val="0"/>
              </a:spcAft>
              <a:defRPr sz="2200" b="0">
                <a:solidFill>
                  <a:srgbClr val="1A2421"/>
                </a:solidFill>
                <a:latin typeface="Arial"/>
              </a:defRPr>
            </a:pPr>
            <a:r>
              <a:t>entre sus columnas.</a:t>
            </a:r>
          </a:p>
        </p:txBody>
      </p:sp>
      <p:sp>
        <p:nvSpPr>
          <p:cNvPr id="6" name="TextBox 5"/>
          <p:cNvSpPr txBox="1"/>
          <p:nvPr/>
        </p:nvSpPr>
        <p:spPr>
          <a:xfrm>
            <a:off x="584200" y="4762500"/>
            <a:ext cx="4635500" cy="1333500"/>
          </a:xfrm>
          <a:prstGeom prst="rect">
            <a:avLst/>
          </a:prstGeom>
          <a:noFill/>
        </p:spPr>
        <p:txBody>
          <a:bodyPr wrap="square" lIns="0" rIns="0" tIns="0" bIns="0">
            <a:spAutoFit/>
          </a:bodyPr>
          <a:lstStyle/>
          <a:p>
            <a:pPr>
              <a:lnSpc>
                <a:spcPts val="2375"/>
              </a:lnSpc>
              <a:spcBef>
                <a:spcPts val="0"/>
              </a:spcBef>
              <a:spcAft>
                <a:spcPts val="0"/>
              </a:spcAft>
              <a:defRPr sz="1900" b="0">
                <a:solidFill>
                  <a:srgbClr val="65716A"/>
                </a:solidFill>
                <a:latin typeface="Arial"/>
              </a:defRPr>
            </a:pPr>
            <a:r>
              <a:t>El público recorre la instalación y participa</a:t>
            </a:r>
          </a:p>
          <a:p>
            <a:pPr>
              <a:lnSpc>
                <a:spcPts val="2375"/>
              </a:lnSpc>
              <a:spcBef>
                <a:spcPts val="0"/>
              </a:spcBef>
              <a:spcAft>
                <a:spcPts val="0"/>
              </a:spcAft>
              <a:defRPr sz="1900" b="0">
                <a:solidFill>
                  <a:srgbClr val="65716A"/>
                </a:solidFill>
                <a:latin typeface="Arial"/>
              </a:defRPr>
            </a:pPr>
            <a:r>
              <a:t>en su construcción. Cada nudo incorpora</a:t>
            </a:r>
          </a:p>
          <a:p>
            <a:pPr>
              <a:lnSpc>
                <a:spcPts val="2375"/>
              </a:lnSpc>
              <a:spcBef>
                <a:spcPts val="0"/>
              </a:spcBef>
              <a:spcAft>
                <a:spcPts val="0"/>
              </a:spcAft>
              <a:defRPr sz="1900" b="0">
                <a:solidFill>
                  <a:srgbClr val="65716A"/>
                </a:solidFill>
                <a:latin typeface="Arial"/>
              </a:defRPr>
            </a:pPr>
            <a:r>
              <a:t>una acción al conjunto.</a:t>
            </a:r>
          </a:p>
        </p:txBody>
      </p:sp>
      <p:pic>
        <p:nvPicPr>
          <p:cNvPr id="7" name="Picture 6" descr="0136_IMG-20250519-WA0044_1500x2000.jpg"/>
          <p:cNvPicPr>
            <a:picLocks noChangeAspect="1"/>
          </p:cNvPicPr>
          <p:nvPr/>
        </p:nvPicPr>
        <p:blipFill>
          <a:blip r:embed="rId2"/>
          <a:srcRect t="12932" b="12932"/>
          <a:stretch>
            <a:fillRect/>
          </a:stretch>
        </p:blipFill>
        <p:spPr>
          <a:xfrm>
            <a:off x="6121400" y="850900"/>
            <a:ext cx="5511800" cy="54483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58800" y="279400"/>
            <a:ext cx="3175000" cy="228600"/>
          </a:xfrm>
          <a:prstGeom prst="rect">
            <a:avLst/>
          </a:prstGeom>
          <a:noFill/>
        </p:spPr>
        <p:txBody>
          <a:bodyPr wrap="square" lIns="0" rIns="0" tIns="0" bIns="0">
            <a:spAutoFit/>
          </a:bodyPr>
          <a:lstStyle/>
          <a:p>
            <a:pPr>
              <a:lnSpc>
                <a:spcPts val="1250"/>
              </a:lnSpc>
              <a:spcBef>
                <a:spcPts val="0"/>
              </a:spcBef>
              <a:spcAft>
                <a:spcPts val="0"/>
              </a:spcAft>
              <a:defRPr sz="1000" b="1">
                <a:solidFill>
                  <a:srgbClr val="1A2421"/>
                </a:solidFill>
                <a:latin typeface="Arial"/>
              </a:defRPr>
            </a:pPr>
            <a:r>
              <a:t>COREKA</a:t>
            </a:r>
          </a:p>
        </p:txBody>
      </p:sp>
      <p:sp>
        <p:nvSpPr>
          <p:cNvPr id="3" name="TextBox 2"/>
          <p:cNvSpPr txBox="1"/>
          <p:nvPr/>
        </p:nvSpPr>
        <p:spPr>
          <a:xfrm>
            <a:off x="11201400" y="279400"/>
            <a:ext cx="406400" cy="228600"/>
          </a:xfrm>
          <a:prstGeom prst="rect">
            <a:avLst/>
          </a:prstGeom>
          <a:noFill/>
        </p:spPr>
        <p:txBody>
          <a:bodyPr wrap="square" lIns="0" rIns="0" tIns="0" bIns="0">
            <a:spAutoFit/>
          </a:bodyPr>
          <a:lstStyle/>
          <a:p>
            <a:pPr>
              <a:lnSpc>
                <a:spcPts val="1250"/>
              </a:lnSpc>
              <a:spcBef>
                <a:spcPts val="0"/>
              </a:spcBef>
              <a:spcAft>
                <a:spcPts val="0"/>
              </a:spcAft>
              <a:defRPr sz="1000" b="0">
                <a:solidFill>
                  <a:srgbClr val="1A2421"/>
                </a:solidFill>
                <a:latin typeface="Arial"/>
              </a:defRPr>
            </a:pPr>
            <a:r>
              <a:t>03</a:t>
            </a:r>
          </a:p>
        </p:txBody>
      </p:sp>
      <p:sp>
        <p:nvSpPr>
          <p:cNvPr id="4" name="TextBox 3"/>
          <p:cNvSpPr txBox="1"/>
          <p:nvPr/>
        </p:nvSpPr>
        <p:spPr>
          <a:xfrm>
            <a:off x="558800" y="952500"/>
            <a:ext cx="11049000" cy="762000"/>
          </a:xfrm>
          <a:prstGeom prst="rect">
            <a:avLst/>
          </a:prstGeom>
          <a:noFill/>
        </p:spPr>
        <p:txBody>
          <a:bodyPr wrap="square" lIns="0" rIns="0" tIns="0" bIns="0">
            <a:spAutoFit/>
          </a:bodyPr>
          <a:lstStyle/>
          <a:p>
            <a:pPr>
              <a:lnSpc>
                <a:spcPts val="5000"/>
              </a:lnSpc>
              <a:spcBef>
                <a:spcPts val="0"/>
              </a:spcBef>
              <a:spcAft>
                <a:spcPts val="0"/>
              </a:spcAft>
              <a:defRPr sz="4000" b="0">
                <a:solidFill>
                  <a:srgbClr val="1A2421"/>
                </a:solidFill>
                <a:latin typeface="Georgia"/>
              </a:defRPr>
            </a:pPr>
            <a:r>
              <a:t>La secuencia de trabajo</a:t>
            </a:r>
          </a:p>
        </p:txBody>
      </p:sp>
      <p:sp>
        <p:nvSpPr>
          <p:cNvPr id="5" name="TextBox 4"/>
          <p:cNvSpPr txBox="1"/>
          <p:nvPr/>
        </p:nvSpPr>
        <p:spPr>
          <a:xfrm>
            <a:off x="584200" y="1803400"/>
            <a:ext cx="10795000" cy="508000"/>
          </a:xfrm>
          <a:prstGeom prst="rect">
            <a:avLst/>
          </a:prstGeom>
          <a:noFill/>
        </p:spPr>
        <p:txBody>
          <a:bodyPr wrap="square" lIns="0" rIns="0" tIns="0" bIns="0">
            <a:spAutoFit/>
          </a:bodyPr>
          <a:lstStyle/>
          <a:p>
            <a:pPr>
              <a:lnSpc>
                <a:spcPts val="2375"/>
              </a:lnSpc>
              <a:spcBef>
                <a:spcPts val="0"/>
              </a:spcBef>
              <a:spcAft>
                <a:spcPts val="0"/>
              </a:spcAft>
              <a:defRPr sz="1900" b="0">
                <a:solidFill>
                  <a:srgbClr val="65716A"/>
                </a:solidFill>
                <a:latin typeface="Arial"/>
              </a:defRPr>
            </a:pPr>
            <a:r>
              <a:t>De la lectura del lugar a la memoria del encuentro.</a:t>
            </a:r>
          </a:p>
        </p:txBody>
      </p:sp>
      <p:sp>
        <p:nvSpPr>
          <p:cNvPr id="6" name="TextBox 5"/>
          <p:cNvSpPr txBox="1"/>
          <p:nvPr/>
        </p:nvSpPr>
        <p:spPr>
          <a:xfrm>
            <a:off x="584200" y="2984500"/>
            <a:ext cx="1905000" cy="698500"/>
          </a:xfrm>
          <a:prstGeom prst="rect">
            <a:avLst/>
          </a:prstGeom>
          <a:noFill/>
        </p:spPr>
        <p:txBody>
          <a:bodyPr wrap="square" lIns="0" rIns="0" tIns="0" bIns="0">
            <a:spAutoFit/>
          </a:bodyPr>
          <a:lstStyle/>
          <a:p>
            <a:pPr>
              <a:lnSpc>
                <a:spcPts val="4375"/>
              </a:lnSpc>
              <a:spcBef>
                <a:spcPts val="0"/>
              </a:spcBef>
              <a:spcAft>
                <a:spcPts val="0"/>
              </a:spcAft>
              <a:defRPr sz="3500" b="0">
                <a:solidFill>
                  <a:srgbClr val="AD345E"/>
                </a:solidFill>
                <a:latin typeface="Georgia"/>
              </a:defRPr>
            </a:pPr>
            <a:r>
              <a:t>01</a:t>
            </a:r>
          </a:p>
        </p:txBody>
      </p:sp>
      <p:sp>
        <p:nvSpPr>
          <p:cNvPr id="7" name="TextBox 6"/>
          <p:cNvSpPr txBox="1"/>
          <p:nvPr/>
        </p:nvSpPr>
        <p:spPr>
          <a:xfrm>
            <a:off x="584200" y="3937000"/>
            <a:ext cx="2032000" cy="825500"/>
          </a:xfrm>
          <a:prstGeom prst="rect">
            <a:avLst/>
          </a:prstGeom>
          <a:noFill/>
        </p:spPr>
        <p:txBody>
          <a:bodyPr wrap="square" lIns="0" rIns="0" tIns="0" bIns="0">
            <a:spAutoFit/>
          </a:bodyPr>
          <a:lstStyle/>
          <a:p>
            <a:pPr>
              <a:lnSpc>
                <a:spcPts val="2375"/>
              </a:lnSpc>
              <a:spcBef>
                <a:spcPts val="0"/>
              </a:spcBef>
              <a:spcAft>
                <a:spcPts val="0"/>
              </a:spcAft>
              <a:defRPr sz="1900" b="1">
                <a:solidFill>
                  <a:srgbClr val="1A2421"/>
                </a:solidFill>
                <a:latin typeface="Arial"/>
              </a:defRPr>
            </a:pPr>
            <a:r>
              <a:t>Leer la nave</a:t>
            </a:r>
          </a:p>
        </p:txBody>
      </p:sp>
      <p:sp>
        <p:nvSpPr>
          <p:cNvPr id="8" name="TextBox 7"/>
          <p:cNvSpPr txBox="1"/>
          <p:nvPr/>
        </p:nvSpPr>
        <p:spPr>
          <a:xfrm>
            <a:off x="584200" y="4927600"/>
            <a:ext cx="1981199" cy="1016000"/>
          </a:xfrm>
          <a:prstGeom prst="rect">
            <a:avLst/>
          </a:prstGeom>
          <a:noFill/>
        </p:spPr>
        <p:txBody>
          <a:bodyPr wrap="square" lIns="0" rIns="0" tIns="0" bIns="0">
            <a:spAutoFit/>
          </a:bodyPr>
          <a:lstStyle/>
          <a:p>
            <a:pPr>
              <a:lnSpc>
                <a:spcPts val="2125"/>
              </a:lnSpc>
              <a:spcBef>
                <a:spcPts val="0"/>
              </a:spcBef>
              <a:spcAft>
                <a:spcPts val="0"/>
              </a:spcAft>
              <a:defRPr sz="1700" b="0">
                <a:solidFill>
                  <a:srgbClr val="65716A"/>
                </a:solidFill>
                <a:latin typeface="Arial"/>
              </a:defRPr>
            </a:pPr>
            <a:r>
              <a:t>Columnas</a:t>
            </a:r>
          </a:p>
          <a:p>
            <a:pPr>
              <a:lnSpc>
                <a:spcPts val="2125"/>
              </a:lnSpc>
              <a:spcBef>
                <a:spcPts val="0"/>
              </a:spcBef>
              <a:spcAft>
                <a:spcPts val="0"/>
              </a:spcAft>
              <a:defRPr sz="1700" b="0">
                <a:solidFill>
                  <a:srgbClr val="65716A"/>
                </a:solidFill>
                <a:latin typeface="Arial"/>
              </a:defRPr>
            </a:pPr>
            <a:r>
              <a:t>existentes</a:t>
            </a:r>
          </a:p>
          <a:p>
            <a:pPr>
              <a:lnSpc>
                <a:spcPts val="2125"/>
              </a:lnSpc>
              <a:spcBef>
                <a:spcPts val="0"/>
              </a:spcBef>
              <a:spcAft>
                <a:spcPts val="0"/>
              </a:spcAft>
              <a:defRPr sz="1700" b="0">
                <a:solidFill>
                  <a:srgbClr val="65716A"/>
                </a:solidFill>
                <a:latin typeface="Arial"/>
              </a:defRPr>
            </a:pPr>
            <a:r>
              <a:t>y recorridos.</a:t>
            </a:r>
          </a:p>
        </p:txBody>
      </p:sp>
      <p:cxnSp>
        <p:nvCxnSpPr>
          <p:cNvPr id="9" name="Connector 8"/>
          <p:cNvCxnSpPr/>
          <p:nvPr/>
        </p:nvCxnSpPr>
        <p:spPr>
          <a:xfrm>
            <a:off x="1066800" y="3556000"/>
            <a:ext cx="1689100" cy="0"/>
          </a:xfrm>
          <a:prstGeom prst="line">
            <a:avLst/>
          </a:prstGeom>
          <a:ln w="17780">
            <a:solidFill>
              <a:srgbClr val="AD345E"/>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819400" y="2984500"/>
            <a:ext cx="1905000" cy="698500"/>
          </a:xfrm>
          <a:prstGeom prst="rect">
            <a:avLst/>
          </a:prstGeom>
          <a:noFill/>
        </p:spPr>
        <p:txBody>
          <a:bodyPr wrap="square" lIns="0" rIns="0" tIns="0" bIns="0">
            <a:spAutoFit/>
          </a:bodyPr>
          <a:lstStyle/>
          <a:p>
            <a:pPr>
              <a:lnSpc>
                <a:spcPts val="4375"/>
              </a:lnSpc>
              <a:spcBef>
                <a:spcPts val="0"/>
              </a:spcBef>
              <a:spcAft>
                <a:spcPts val="0"/>
              </a:spcAft>
              <a:defRPr sz="3500" b="0">
                <a:solidFill>
                  <a:srgbClr val="AD345E"/>
                </a:solidFill>
                <a:latin typeface="Georgia"/>
              </a:defRPr>
            </a:pPr>
            <a:r>
              <a:t>02</a:t>
            </a:r>
          </a:p>
        </p:txBody>
      </p:sp>
      <p:sp>
        <p:nvSpPr>
          <p:cNvPr id="11" name="TextBox 10"/>
          <p:cNvSpPr txBox="1"/>
          <p:nvPr/>
        </p:nvSpPr>
        <p:spPr>
          <a:xfrm>
            <a:off x="2819400" y="3937000"/>
            <a:ext cx="2032000" cy="825500"/>
          </a:xfrm>
          <a:prstGeom prst="rect">
            <a:avLst/>
          </a:prstGeom>
          <a:noFill/>
        </p:spPr>
        <p:txBody>
          <a:bodyPr wrap="square" lIns="0" rIns="0" tIns="0" bIns="0">
            <a:spAutoFit/>
          </a:bodyPr>
          <a:lstStyle/>
          <a:p>
            <a:pPr>
              <a:lnSpc>
                <a:spcPts val="2375"/>
              </a:lnSpc>
              <a:spcBef>
                <a:spcPts val="0"/>
              </a:spcBef>
              <a:spcAft>
                <a:spcPts val="0"/>
              </a:spcAft>
              <a:defRPr sz="1900" b="1">
                <a:solidFill>
                  <a:srgbClr val="1A2421"/>
                </a:solidFill>
                <a:latin typeface="Arial"/>
              </a:defRPr>
            </a:pPr>
            <a:r>
              <a:t>Tensar la trama</a:t>
            </a:r>
          </a:p>
        </p:txBody>
      </p:sp>
      <p:sp>
        <p:nvSpPr>
          <p:cNvPr id="12" name="TextBox 11"/>
          <p:cNvSpPr txBox="1"/>
          <p:nvPr/>
        </p:nvSpPr>
        <p:spPr>
          <a:xfrm>
            <a:off x="2819400" y="4927600"/>
            <a:ext cx="1981199" cy="1016000"/>
          </a:xfrm>
          <a:prstGeom prst="rect">
            <a:avLst/>
          </a:prstGeom>
          <a:noFill/>
        </p:spPr>
        <p:txBody>
          <a:bodyPr wrap="square" lIns="0" rIns="0" tIns="0" bIns="0">
            <a:spAutoFit/>
          </a:bodyPr>
          <a:lstStyle/>
          <a:p>
            <a:pPr>
              <a:lnSpc>
                <a:spcPts val="2125"/>
              </a:lnSpc>
              <a:spcBef>
                <a:spcPts val="0"/>
              </a:spcBef>
              <a:spcAft>
                <a:spcPts val="0"/>
              </a:spcAft>
              <a:defRPr sz="1700" b="0">
                <a:solidFill>
                  <a:srgbClr val="65716A"/>
                </a:solidFill>
                <a:latin typeface="Arial"/>
              </a:defRPr>
            </a:pPr>
            <a:r>
              <a:t>Trapillo entre</a:t>
            </a:r>
          </a:p>
          <a:p>
            <a:pPr>
              <a:lnSpc>
                <a:spcPts val="2125"/>
              </a:lnSpc>
              <a:spcBef>
                <a:spcPts val="0"/>
              </a:spcBef>
              <a:spcAft>
                <a:spcPts val="0"/>
              </a:spcAft>
              <a:defRPr sz="1700" b="0">
                <a:solidFill>
                  <a:srgbClr val="65716A"/>
                </a:solidFill>
                <a:latin typeface="Arial"/>
              </a:defRPr>
            </a:pPr>
            <a:r>
              <a:t>los soportes.</a:t>
            </a:r>
          </a:p>
        </p:txBody>
      </p:sp>
      <p:cxnSp>
        <p:nvCxnSpPr>
          <p:cNvPr id="13" name="Connector 12"/>
          <p:cNvCxnSpPr/>
          <p:nvPr/>
        </p:nvCxnSpPr>
        <p:spPr>
          <a:xfrm>
            <a:off x="3302000" y="3556000"/>
            <a:ext cx="1689100" cy="0"/>
          </a:xfrm>
          <a:prstGeom prst="line">
            <a:avLst/>
          </a:prstGeom>
          <a:ln w="17780">
            <a:solidFill>
              <a:srgbClr val="AD345E"/>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054600" y="2984500"/>
            <a:ext cx="1905000" cy="698500"/>
          </a:xfrm>
          <a:prstGeom prst="rect">
            <a:avLst/>
          </a:prstGeom>
          <a:noFill/>
        </p:spPr>
        <p:txBody>
          <a:bodyPr wrap="square" lIns="0" rIns="0" tIns="0" bIns="0">
            <a:spAutoFit/>
          </a:bodyPr>
          <a:lstStyle/>
          <a:p>
            <a:pPr>
              <a:lnSpc>
                <a:spcPts val="4375"/>
              </a:lnSpc>
              <a:spcBef>
                <a:spcPts val="0"/>
              </a:spcBef>
              <a:spcAft>
                <a:spcPts val="0"/>
              </a:spcAft>
              <a:defRPr sz="3500" b="0">
                <a:solidFill>
                  <a:srgbClr val="AD345E"/>
                </a:solidFill>
                <a:latin typeface="Georgia"/>
              </a:defRPr>
            </a:pPr>
            <a:r>
              <a:t>03</a:t>
            </a:r>
          </a:p>
        </p:txBody>
      </p:sp>
      <p:sp>
        <p:nvSpPr>
          <p:cNvPr id="15" name="TextBox 14"/>
          <p:cNvSpPr txBox="1"/>
          <p:nvPr/>
        </p:nvSpPr>
        <p:spPr>
          <a:xfrm>
            <a:off x="5054600" y="3937000"/>
            <a:ext cx="2032000" cy="825500"/>
          </a:xfrm>
          <a:prstGeom prst="rect">
            <a:avLst/>
          </a:prstGeom>
          <a:noFill/>
        </p:spPr>
        <p:txBody>
          <a:bodyPr wrap="square" lIns="0" rIns="0" tIns="0" bIns="0">
            <a:spAutoFit/>
          </a:bodyPr>
          <a:lstStyle/>
          <a:p>
            <a:pPr>
              <a:lnSpc>
                <a:spcPts val="2375"/>
              </a:lnSpc>
              <a:spcBef>
                <a:spcPts val="0"/>
              </a:spcBef>
              <a:spcAft>
                <a:spcPts val="0"/>
              </a:spcAft>
              <a:defRPr sz="1900" b="1">
                <a:solidFill>
                  <a:srgbClr val="1A2421"/>
                </a:solidFill>
                <a:latin typeface="Arial"/>
              </a:defRPr>
            </a:pPr>
            <a:r>
              <a:t>Tejer juntos</a:t>
            </a:r>
          </a:p>
        </p:txBody>
      </p:sp>
      <p:sp>
        <p:nvSpPr>
          <p:cNvPr id="16" name="TextBox 15"/>
          <p:cNvSpPr txBox="1"/>
          <p:nvPr/>
        </p:nvSpPr>
        <p:spPr>
          <a:xfrm>
            <a:off x="5054600" y="4927600"/>
            <a:ext cx="1981199" cy="1016000"/>
          </a:xfrm>
          <a:prstGeom prst="rect">
            <a:avLst/>
          </a:prstGeom>
          <a:noFill/>
        </p:spPr>
        <p:txBody>
          <a:bodyPr wrap="square" lIns="0" rIns="0" tIns="0" bIns="0">
            <a:spAutoFit/>
          </a:bodyPr>
          <a:lstStyle/>
          <a:p>
            <a:pPr>
              <a:lnSpc>
                <a:spcPts val="2125"/>
              </a:lnSpc>
              <a:spcBef>
                <a:spcPts val="0"/>
              </a:spcBef>
              <a:spcAft>
                <a:spcPts val="0"/>
              </a:spcAft>
              <a:defRPr sz="1700" b="0">
                <a:solidFill>
                  <a:srgbClr val="65716A"/>
                </a:solidFill>
                <a:latin typeface="Arial"/>
              </a:defRPr>
            </a:pPr>
            <a:r>
              <a:t>Nudos y color</a:t>
            </a:r>
          </a:p>
          <a:p>
            <a:pPr>
              <a:lnSpc>
                <a:spcPts val="2125"/>
              </a:lnSpc>
              <a:spcBef>
                <a:spcPts val="0"/>
              </a:spcBef>
              <a:spcAft>
                <a:spcPts val="0"/>
              </a:spcAft>
              <a:defRPr sz="1700" b="0">
                <a:solidFill>
                  <a:srgbClr val="65716A"/>
                </a:solidFill>
                <a:latin typeface="Arial"/>
              </a:defRPr>
            </a:pPr>
            <a:r>
              <a:t>con el público.</a:t>
            </a:r>
          </a:p>
        </p:txBody>
      </p:sp>
      <p:cxnSp>
        <p:nvCxnSpPr>
          <p:cNvPr id="17" name="Connector 16"/>
          <p:cNvCxnSpPr/>
          <p:nvPr/>
        </p:nvCxnSpPr>
        <p:spPr>
          <a:xfrm>
            <a:off x="5537200" y="3556000"/>
            <a:ext cx="1689100" cy="0"/>
          </a:xfrm>
          <a:prstGeom prst="line">
            <a:avLst/>
          </a:prstGeom>
          <a:ln w="17780">
            <a:solidFill>
              <a:srgbClr val="AD345E"/>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289800" y="2984500"/>
            <a:ext cx="1905000" cy="698500"/>
          </a:xfrm>
          <a:prstGeom prst="rect">
            <a:avLst/>
          </a:prstGeom>
          <a:noFill/>
        </p:spPr>
        <p:txBody>
          <a:bodyPr wrap="square" lIns="0" rIns="0" tIns="0" bIns="0">
            <a:spAutoFit/>
          </a:bodyPr>
          <a:lstStyle/>
          <a:p>
            <a:pPr>
              <a:lnSpc>
                <a:spcPts val="4375"/>
              </a:lnSpc>
              <a:spcBef>
                <a:spcPts val="0"/>
              </a:spcBef>
              <a:spcAft>
                <a:spcPts val="0"/>
              </a:spcAft>
              <a:defRPr sz="3500" b="0">
                <a:solidFill>
                  <a:srgbClr val="AD345E"/>
                </a:solidFill>
                <a:latin typeface="Georgia"/>
              </a:defRPr>
            </a:pPr>
            <a:r>
              <a:t>04</a:t>
            </a:r>
          </a:p>
        </p:txBody>
      </p:sp>
      <p:sp>
        <p:nvSpPr>
          <p:cNvPr id="19" name="TextBox 18"/>
          <p:cNvSpPr txBox="1"/>
          <p:nvPr/>
        </p:nvSpPr>
        <p:spPr>
          <a:xfrm>
            <a:off x="7289800" y="3937000"/>
            <a:ext cx="2032000" cy="825500"/>
          </a:xfrm>
          <a:prstGeom prst="rect">
            <a:avLst/>
          </a:prstGeom>
          <a:noFill/>
        </p:spPr>
        <p:txBody>
          <a:bodyPr wrap="square" lIns="0" rIns="0" tIns="0" bIns="0">
            <a:spAutoFit/>
          </a:bodyPr>
          <a:lstStyle/>
          <a:p>
            <a:pPr>
              <a:lnSpc>
                <a:spcPts val="2375"/>
              </a:lnSpc>
              <a:spcBef>
                <a:spcPts val="0"/>
              </a:spcBef>
              <a:spcAft>
                <a:spcPts val="0"/>
              </a:spcAft>
              <a:defRPr sz="1900" b="1">
                <a:solidFill>
                  <a:srgbClr val="1A2421"/>
                </a:solidFill>
                <a:latin typeface="Arial"/>
              </a:defRPr>
            </a:pPr>
            <a:r>
              <a:t>Habitar la obra</a:t>
            </a:r>
          </a:p>
        </p:txBody>
      </p:sp>
      <p:sp>
        <p:nvSpPr>
          <p:cNvPr id="20" name="TextBox 19"/>
          <p:cNvSpPr txBox="1"/>
          <p:nvPr/>
        </p:nvSpPr>
        <p:spPr>
          <a:xfrm>
            <a:off x="7289800" y="4927600"/>
            <a:ext cx="1981199" cy="1016000"/>
          </a:xfrm>
          <a:prstGeom prst="rect">
            <a:avLst/>
          </a:prstGeom>
          <a:noFill/>
        </p:spPr>
        <p:txBody>
          <a:bodyPr wrap="square" lIns="0" rIns="0" tIns="0" bIns="0">
            <a:spAutoFit/>
          </a:bodyPr>
          <a:lstStyle/>
          <a:p>
            <a:pPr>
              <a:lnSpc>
                <a:spcPts val="2125"/>
              </a:lnSpc>
              <a:spcBef>
                <a:spcPts val="0"/>
              </a:spcBef>
              <a:spcAft>
                <a:spcPts val="0"/>
              </a:spcAft>
              <a:defRPr sz="1700" b="0">
                <a:solidFill>
                  <a:srgbClr val="65716A"/>
                </a:solidFill>
                <a:latin typeface="Arial"/>
              </a:defRPr>
            </a:pPr>
            <a:r>
              <a:t>Cuerpos que pasan,</a:t>
            </a:r>
          </a:p>
          <a:p>
            <a:pPr>
              <a:lnSpc>
                <a:spcPts val="2125"/>
              </a:lnSpc>
              <a:spcBef>
                <a:spcPts val="0"/>
              </a:spcBef>
              <a:spcAft>
                <a:spcPts val="0"/>
              </a:spcAft>
              <a:defRPr sz="1700" b="0">
                <a:solidFill>
                  <a:srgbClr val="65716A"/>
                </a:solidFill>
                <a:latin typeface="Arial"/>
              </a:defRPr>
            </a:pPr>
            <a:r>
              <a:t>rodean y se</a:t>
            </a:r>
          </a:p>
          <a:p>
            <a:pPr>
              <a:lnSpc>
                <a:spcPts val="2125"/>
              </a:lnSpc>
              <a:spcBef>
                <a:spcPts val="0"/>
              </a:spcBef>
              <a:spcAft>
                <a:spcPts val="0"/>
              </a:spcAft>
              <a:defRPr sz="1700" b="0">
                <a:solidFill>
                  <a:srgbClr val="65716A"/>
                </a:solidFill>
                <a:latin typeface="Arial"/>
              </a:defRPr>
            </a:pPr>
            <a:r>
              <a:t>detienen.</a:t>
            </a:r>
          </a:p>
        </p:txBody>
      </p:sp>
      <p:cxnSp>
        <p:nvCxnSpPr>
          <p:cNvPr id="21" name="Connector 20"/>
          <p:cNvCxnSpPr/>
          <p:nvPr/>
        </p:nvCxnSpPr>
        <p:spPr>
          <a:xfrm>
            <a:off x="7772400" y="3556000"/>
            <a:ext cx="1689100" cy="0"/>
          </a:xfrm>
          <a:prstGeom prst="line">
            <a:avLst/>
          </a:prstGeom>
          <a:ln w="17780">
            <a:solidFill>
              <a:srgbClr val="AD345E"/>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9525000" y="2984500"/>
            <a:ext cx="1905000" cy="698500"/>
          </a:xfrm>
          <a:prstGeom prst="rect">
            <a:avLst/>
          </a:prstGeom>
          <a:noFill/>
        </p:spPr>
        <p:txBody>
          <a:bodyPr wrap="square" lIns="0" rIns="0" tIns="0" bIns="0">
            <a:spAutoFit/>
          </a:bodyPr>
          <a:lstStyle/>
          <a:p>
            <a:pPr>
              <a:lnSpc>
                <a:spcPts val="4375"/>
              </a:lnSpc>
              <a:spcBef>
                <a:spcPts val="0"/>
              </a:spcBef>
              <a:spcAft>
                <a:spcPts val="0"/>
              </a:spcAft>
              <a:defRPr sz="3500" b="0">
                <a:solidFill>
                  <a:srgbClr val="AD345E"/>
                </a:solidFill>
                <a:latin typeface="Georgia"/>
              </a:defRPr>
            </a:pPr>
            <a:r>
              <a:t>05</a:t>
            </a:r>
          </a:p>
        </p:txBody>
      </p:sp>
      <p:sp>
        <p:nvSpPr>
          <p:cNvPr id="23" name="TextBox 22"/>
          <p:cNvSpPr txBox="1"/>
          <p:nvPr/>
        </p:nvSpPr>
        <p:spPr>
          <a:xfrm>
            <a:off x="9525000" y="3937000"/>
            <a:ext cx="2032000" cy="825500"/>
          </a:xfrm>
          <a:prstGeom prst="rect">
            <a:avLst/>
          </a:prstGeom>
          <a:noFill/>
        </p:spPr>
        <p:txBody>
          <a:bodyPr wrap="square" lIns="0" rIns="0" tIns="0" bIns="0">
            <a:spAutoFit/>
          </a:bodyPr>
          <a:lstStyle/>
          <a:p>
            <a:pPr>
              <a:lnSpc>
                <a:spcPts val="2375"/>
              </a:lnSpc>
              <a:spcBef>
                <a:spcPts val="0"/>
              </a:spcBef>
              <a:spcAft>
                <a:spcPts val="0"/>
              </a:spcAft>
              <a:defRPr sz="1900" b="1">
                <a:solidFill>
                  <a:srgbClr val="1A2421"/>
                </a:solidFill>
                <a:latin typeface="Arial"/>
              </a:defRPr>
            </a:pPr>
            <a:r>
              <a:t>Recoger la</a:t>
            </a:r>
          </a:p>
          <a:p>
            <a:pPr>
              <a:lnSpc>
                <a:spcPts val="2375"/>
              </a:lnSpc>
              <a:spcBef>
                <a:spcPts val="0"/>
              </a:spcBef>
              <a:spcAft>
                <a:spcPts val="0"/>
              </a:spcAft>
              <a:defRPr sz="1900" b="1">
                <a:solidFill>
                  <a:srgbClr val="1A2421"/>
                </a:solidFill>
                <a:latin typeface="Arial"/>
              </a:defRPr>
            </a:pPr>
            <a:r>
              <a:t>memoria</a:t>
            </a:r>
          </a:p>
        </p:txBody>
      </p:sp>
      <p:sp>
        <p:nvSpPr>
          <p:cNvPr id="24" name="TextBox 23"/>
          <p:cNvSpPr txBox="1"/>
          <p:nvPr/>
        </p:nvSpPr>
        <p:spPr>
          <a:xfrm>
            <a:off x="9525000" y="4927600"/>
            <a:ext cx="1981199" cy="1016000"/>
          </a:xfrm>
          <a:prstGeom prst="rect">
            <a:avLst/>
          </a:prstGeom>
          <a:noFill/>
        </p:spPr>
        <p:txBody>
          <a:bodyPr wrap="square" lIns="0" rIns="0" tIns="0" bIns="0">
            <a:spAutoFit/>
          </a:bodyPr>
          <a:lstStyle/>
          <a:p>
            <a:pPr>
              <a:lnSpc>
                <a:spcPts val="2125"/>
              </a:lnSpc>
              <a:spcBef>
                <a:spcPts val="0"/>
              </a:spcBef>
              <a:spcAft>
                <a:spcPts val="0"/>
              </a:spcAft>
              <a:defRPr sz="1700" b="0">
                <a:solidFill>
                  <a:srgbClr val="65716A"/>
                </a:solidFill>
                <a:latin typeface="Arial"/>
              </a:defRPr>
            </a:pPr>
            <a:r>
              <a:t>Desmontaje y</a:t>
            </a:r>
          </a:p>
          <a:p>
            <a:pPr>
              <a:lnSpc>
                <a:spcPts val="2125"/>
              </a:lnSpc>
              <a:spcBef>
                <a:spcPts val="0"/>
              </a:spcBef>
              <a:spcAft>
                <a:spcPts val="0"/>
              </a:spcAft>
              <a:defRPr sz="1700" b="0">
                <a:solidFill>
                  <a:srgbClr val="65716A"/>
                </a:solidFill>
                <a:latin typeface="Arial"/>
              </a:defRPr>
            </a:pPr>
            <a:r>
              <a:t>registro del tejido.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58800" y="279400"/>
            <a:ext cx="3175000" cy="228600"/>
          </a:xfrm>
          <a:prstGeom prst="rect">
            <a:avLst/>
          </a:prstGeom>
          <a:noFill/>
        </p:spPr>
        <p:txBody>
          <a:bodyPr wrap="square" lIns="0" rIns="0" tIns="0" bIns="0">
            <a:spAutoFit/>
          </a:bodyPr>
          <a:lstStyle/>
          <a:p>
            <a:pPr>
              <a:lnSpc>
                <a:spcPts val="1250"/>
              </a:lnSpc>
              <a:spcBef>
                <a:spcPts val="0"/>
              </a:spcBef>
              <a:spcAft>
                <a:spcPts val="0"/>
              </a:spcAft>
              <a:defRPr sz="1000" b="1">
                <a:solidFill>
                  <a:srgbClr val="1A2421"/>
                </a:solidFill>
                <a:latin typeface="Arial"/>
              </a:defRPr>
            </a:pPr>
            <a:r>
              <a:t>COREKA</a:t>
            </a:r>
          </a:p>
        </p:txBody>
      </p:sp>
      <p:sp>
        <p:nvSpPr>
          <p:cNvPr id="3" name="TextBox 2"/>
          <p:cNvSpPr txBox="1"/>
          <p:nvPr/>
        </p:nvSpPr>
        <p:spPr>
          <a:xfrm>
            <a:off x="11201400" y="279400"/>
            <a:ext cx="406400" cy="228600"/>
          </a:xfrm>
          <a:prstGeom prst="rect">
            <a:avLst/>
          </a:prstGeom>
          <a:noFill/>
        </p:spPr>
        <p:txBody>
          <a:bodyPr wrap="square" lIns="0" rIns="0" tIns="0" bIns="0">
            <a:spAutoFit/>
          </a:bodyPr>
          <a:lstStyle/>
          <a:p>
            <a:pPr>
              <a:lnSpc>
                <a:spcPts val="1250"/>
              </a:lnSpc>
              <a:spcBef>
                <a:spcPts val="0"/>
              </a:spcBef>
              <a:spcAft>
                <a:spcPts val="0"/>
              </a:spcAft>
              <a:defRPr sz="1000" b="0">
                <a:solidFill>
                  <a:srgbClr val="1A2421"/>
                </a:solidFill>
                <a:latin typeface="Arial"/>
              </a:defRPr>
            </a:pPr>
            <a:r>
              <a:t>04</a:t>
            </a:r>
          </a:p>
        </p:txBody>
      </p:sp>
      <p:sp>
        <p:nvSpPr>
          <p:cNvPr id="4" name="TextBox 3"/>
          <p:cNvSpPr txBox="1"/>
          <p:nvPr/>
        </p:nvSpPr>
        <p:spPr>
          <a:xfrm>
            <a:off x="558800" y="838200"/>
            <a:ext cx="11049000" cy="723900"/>
          </a:xfrm>
          <a:prstGeom prst="rect">
            <a:avLst/>
          </a:prstGeom>
          <a:noFill/>
        </p:spPr>
        <p:txBody>
          <a:bodyPr wrap="square" lIns="0" rIns="0" tIns="0" bIns="0">
            <a:spAutoFit/>
          </a:bodyPr>
          <a:lstStyle/>
          <a:p>
            <a:pPr>
              <a:lnSpc>
                <a:spcPts val="4875"/>
              </a:lnSpc>
              <a:spcBef>
                <a:spcPts val="0"/>
              </a:spcBef>
              <a:spcAft>
                <a:spcPts val="0"/>
              </a:spcAft>
              <a:defRPr sz="3900" b="0">
                <a:solidFill>
                  <a:srgbClr val="1A2421"/>
                </a:solidFill>
                <a:latin typeface="Georgia"/>
              </a:defRPr>
            </a:pPr>
            <a:r>
              <a:t>La nave como bastidor</a:t>
            </a:r>
          </a:p>
        </p:txBody>
      </p:sp>
      <p:pic>
        <p:nvPicPr>
          <p:cNvPr id="5" name="Picture 4" descr="original_0_1.png"/>
          <p:cNvPicPr>
            <a:picLocks noChangeAspect="1"/>
          </p:cNvPicPr>
          <p:nvPr/>
        </p:nvPicPr>
        <p:blipFill>
          <a:blip r:embed="rId2"/>
          <a:stretch>
            <a:fillRect/>
          </a:stretch>
        </p:blipFill>
        <p:spPr>
          <a:xfrm>
            <a:off x="1485900" y="1752600"/>
            <a:ext cx="6286500" cy="4190999"/>
          </a:xfrm>
          <a:prstGeom prst="rect">
            <a:avLst/>
          </a:prstGeom>
        </p:spPr>
      </p:pic>
      <p:sp>
        <p:nvSpPr>
          <p:cNvPr id="6" name="TextBox 5"/>
          <p:cNvSpPr txBox="1"/>
          <p:nvPr/>
        </p:nvSpPr>
        <p:spPr>
          <a:xfrm>
            <a:off x="9144000" y="2095499"/>
            <a:ext cx="2603500" cy="889000"/>
          </a:xfrm>
          <a:prstGeom prst="rect">
            <a:avLst/>
          </a:prstGeom>
          <a:noFill/>
        </p:spPr>
        <p:txBody>
          <a:bodyPr wrap="square" lIns="0" rIns="0" tIns="0" bIns="0">
            <a:spAutoFit/>
          </a:bodyPr>
          <a:lstStyle/>
          <a:p>
            <a:pPr>
              <a:lnSpc>
                <a:spcPts val="3375"/>
              </a:lnSpc>
              <a:spcBef>
                <a:spcPts val="0"/>
              </a:spcBef>
              <a:spcAft>
                <a:spcPts val="0"/>
              </a:spcAft>
              <a:defRPr sz="2700" b="0">
                <a:solidFill>
                  <a:srgbClr val="1A2421"/>
                </a:solidFill>
                <a:latin typeface="Georgia"/>
              </a:defRPr>
            </a:pPr>
            <a:r>
              <a:t>Siete tramos</a:t>
            </a:r>
          </a:p>
        </p:txBody>
      </p:sp>
      <p:sp>
        <p:nvSpPr>
          <p:cNvPr id="7" name="TextBox 6"/>
          <p:cNvSpPr txBox="1"/>
          <p:nvPr/>
        </p:nvSpPr>
        <p:spPr>
          <a:xfrm>
            <a:off x="9144000" y="3124200"/>
            <a:ext cx="2476500" cy="1193800"/>
          </a:xfrm>
          <a:prstGeom prst="rect">
            <a:avLst/>
          </a:prstGeom>
          <a:noFill/>
        </p:spPr>
        <p:txBody>
          <a:bodyPr wrap="square" lIns="0" rIns="0" tIns="0" bIns="0">
            <a:spAutoFit/>
          </a:bodyPr>
          <a:lstStyle/>
          <a:p>
            <a:pPr>
              <a:lnSpc>
                <a:spcPts val="2250"/>
              </a:lnSpc>
              <a:spcBef>
                <a:spcPts val="0"/>
              </a:spcBef>
              <a:spcAft>
                <a:spcPts val="0"/>
              </a:spcAft>
              <a:defRPr sz="1800" b="0">
                <a:solidFill>
                  <a:srgbClr val="1A2421"/>
                </a:solidFill>
                <a:latin typeface="Arial"/>
              </a:defRPr>
            </a:pPr>
            <a:r>
              <a:t>La propuesta organiza</a:t>
            </a:r>
          </a:p>
          <a:p>
            <a:pPr>
              <a:lnSpc>
                <a:spcPts val="2250"/>
              </a:lnSpc>
              <a:spcBef>
                <a:spcPts val="0"/>
              </a:spcBef>
              <a:spcAft>
                <a:spcPts val="0"/>
              </a:spcAft>
              <a:defRPr sz="1800" b="0">
                <a:solidFill>
                  <a:srgbClr val="1A2421"/>
                </a:solidFill>
                <a:latin typeface="Arial"/>
              </a:defRPr>
            </a:pPr>
            <a:r>
              <a:t>el tejido entre pares de</a:t>
            </a:r>
          </a:p>
          <a:p>
            <a:pPr>
              <a:lnSpc>
                <a:spcPts val="2250"/>
              </a:lnSpc>
              <a:spcBef>
                <a:spcPts val="0"/>
              </a:spcBef>
              <a:spcAft>
                <a:spcPts val="0"/>
              </a:spcAft>
              <a:defRPr sz="1800" b="0">
                <a:solidFill>
                  <a:srgbClr val="1A2421"/>
                </a:solidFill>
                <a:latin typeface="Arial"/>
              </a:defRPr>
            </a:pPr>
            <a:r>
              <a:t>columnas.</a:t>
            </a:r>
          </a:p>
        </p:txBody>
      </p:sp>
      <p:sp>
        <p:nvSpPr>
          <p:cNvPr id="8" name="TextBox 7"/>
          <p:cNvSpPr txBox="1"/>
          <p:nvPr/>
        </p:nvSpPr>
        <p:spPr>
          <a:xfrm>
            <a:off x="9144000" y="4686300"/>
            <a:ext cx="2476500" cy="825500"/>
          </a:xfrm>
          <a:prstGeom prst="rect">
            <a:avLst/>
          </a:prstGeom>
          <a:noFill/>
        </p:spPr>
        <p:txBody>
          <a:bodyPr wrap="square" lIns="0" rIns="0" tIns="0" bIns="0">
            <a:spAutoFit/>
          </a:bodyPr>
          <a:lstStyle/>
          <a:p>
            <a:pPr>
              <a:lnSpc>
                <a:spcPts val="2375"/>
              </a:lnSpc>
              <a:spcBef>
                <a:spcPts val="0"/>
              </a:spcBef>
              <a:spcAft>
                <a:spcPts val="0"/>
              </a:spcAft>
              <a:defRPr sz="1900" b="1">
                <a:solidFill>
                  <a:srgbClr val="1A2421"/>
                </a:solidFill>
                <a:latin typeface="Arial"/>
              </a:defRPr>
            </a:pPr>
            <a:r>
              <a:t>Altura prevista</a:t>
            </a:r>
          </a:p>
          <a:p>
            <a:pPr>
              <a:lnSpc>
                <a:spcPts val="2375"/>
              </a:lnSpc>
              <a:spcBef>
                <a:spcPts val="0"/>
              </a:spcBef>
              <a:spcAft>
                <a:spcPts val="0"/>
              </a:spcAft>
              <a:defRPr sz="1900" b="1">
                <a:solidFill>
                  <a:srgbClr val="1A2421"/>
                </a:solidFill>
                <a:latin typeface="Arial"/>
              </a:defRPr>
            </a:pPr>
            <a:r>
              <a:t>0,80 a 1,40 m</a:t>
            </a:r>
          </a:p>
        </p:txBody>
      </p:sp>
      <p:sp>
        <p:nvSpPr>
          <p:cNvPr id="9" name="TextBox 8"/>
          <p:cNvSpPr txBox="1"/>
          <p:nvPr/>
        </p:nvSpPr>
        <p:spPr>
          <a:xfrm>
            <a:off x="584200" y="6223000"/>
            <a:ext cx="10795000" cy="317500"/>
          </a:xfrm>
          <a:prstGeom prst="rect">
            <a:avLst/>
          </a:prstGeom>
          <a:noFill/>
        </p:spPr>
        <p:txBody>
          <a:bodyPr wrap="square" lIns="0" rIns="0" tIns="0" bIns="0">
            <a:spAutoFit/>
          </a:bodyPr>
          <a:lstStyle/>
          <a:p>
            <a:pPr>
              <a:lnSpc>
                <a:spcPts val="1375"/>
              </a:lnSpc>
              <a:spcBef>
                <a:spcPts val="0"/>
              </a:spcBef>
              <a:spcAft>
                <a:spcPts val="0"/>
              </a:spcAft>
              <a:defRPr sz="1100" b="0">
                <a:solidFill>
                  <a:srgbClr val="65716A"/>
                </a:solidFill>
                <a:latin typeface="Arial"/>
              </a:defRPr>
            </a:pPr>
            <a:r>
              <a:t>Plano y croquis originales. Las cotas corresponden a la propuesta de mayo de 2025.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58800" y="279400"/>
            <a:ext cx="3175000" cy="228600"/>
          </a:xfrm>
          <a:prstGeom prst="rect">
            <a:avLst/>
          </a:prstGeom>
          <a:noFill/>
        </p:spPr>
        <p:txBody>
          <a:bodyPr wrap="square" lIns="0" rIns="0" tIns="0" bIns="0">
            <a:spAutoFit/>
          </a:bodyPr>
          <a:lstStyle/>
          <a:p>
            <a:pPr>
              <a:lnSpc>
                <a:spcPts val="1250"/>
              </a:lnSpc>
              <a:spcBef>
                <a:spcPts val="0"/>
              </a:spcBef>
              <a:spcAft>
                <a:spcPts val="0"/>
              </a:spcAft>
              <a:defRPr sz="1000" b="1">
                <a:solidFill>
                  <a:srgbClr val="1A2421"/>
                </a:solidFill>
                <a:latin typeface="Arial"/>
              </a:defRPr>
            </a:pPr>
            <a:r>
              <a:t>COREKA</a:t>
            </a:r>
          </a:p>
        </p:txBody>
      </p:sp>
      <p:sp>
        <p:nvSpPr>
          <p:cNvPr id="3" name="TextBox 2"/>
          <p:cNvSpPr txBox="1"/>
          <p:nvPr/>
        </p:nvSpPr>
        <p:spPr>
          <a:xfrm>
            <a:off x="11201400" y="279400"/>
            <a:ext cx="406400" cy="228600"/>
          </a:xfrm>
          <a:prstGeom prst="rect">
            <a:avLst/>
          </a:prstGeom>
          <a:noFill/>
        </p:spPr>
        <p:txBody>
          <a:bodyPr wrap="square" lIns="0" rIns="0" tIns="0" bIns="0">
            <a:spAutoFit/>
          </a:bodyPr>
          <a:lstStyle/>
          <a:p>
            <a:pPr>
              <a:lnSpc>
                <a:spcPts val="1250"/>
              </a:lnSpc>
              <a:spcBef>
                <a:spcPts val="0"/>
              </a:spcBef>
              <a:spcAft>
                <a:spcPts val="0"/>
              </a:spcAft>
              <a:defRPr sz="1000" b="0">
                <a:solidFill>
                  <a:srgbClr val="1A2421"/>
                </a:solidFill>
                <a:latin typeface="Arial"/>
              </a:defRPr>
            </a:pPr>
            <a:r>
              <a:t>05</a:t>
            </a:r>
          </a:p>
        </p:txBody>
      </p:sp>
      <p:pic>
        <p:nvPicPr>
          <p:cNvPr id="4" name="Picture 3" descr="preparacion-equivalencias.jpg"/>
          <p:cNvPicPr>
            <a:picLocks noChangeAspect="1"/>
          </p:cNvPicPr>
          <p:nvPr/>
        </p:nvPicPr>
        <p:blipFill>
          <a:blip r:embed="rId2"/>
          <a:srcRect l="6944" r="6944"/>
          <a:stretch>
            <a:fillRect/>
          </a:stretch>
        </p:blipFill>
        <p:spPr>
          <a:xfrm>
            <a:off x="0" y="0"/>
            <a:ext cx="7874000" cy="6858000"/>
          </a:xfrm>
          <a:prstGeom prst="rect">
            <a:avLst/>
          </a:prstGeom>
        </p:spPr>
      </p:pic>
      <p:sp>
        <p:nvSpPr>
          <p:cNvPr id="5" name="TextBox 4"/>
          <p:cNvSpPr txBox="1"/>
          <p:nvPr/>
        </p:nvSpPr>
        <p:spPr>
          <a:xfrm>
            <a:off x="8369300" y="1104900"/>
            <a:ext cx="3365500" cy="2159000"/>
          </a:xfrm>
          <a:prstGeom prst="rect">
            <a:avLst/>
          </a:prstGeom>
          <a:noFill/>
        </p:spPr>
        <p:txBody>
          <a:bodyPr wrap="square" lIns="0" rIns="0" tIns="0" bIns="0">
            <a:spAutoFit/>
          </a:bodyPr>
          <a:lstStyle/>
          <a:p>
            <a:pPr>
              <a:lnSpc>
                <a:spcPts val="4750"/>
              </a:lnSpc>
              <a:spcBef>
                <a:spcPts val="0"/>
              </a:spcBef>
              <a:spcAft>
                <a:spcPts val="0"/>
              </a:spcAft>
              <a:defRPr sz="3800" b="0">
                <a:solidFill>
                  <a:srgbClr val="1A2421"/>
                </a:solidFill>
                <a:latin typeface="Georgia"/>
              </a:defRPr>
            </a:pPr>
            <a:r>
              <a:t>La mano</a:t>
            </a:r>
          </a:p>
          <a:p>
            <a:pPr>
              <a:lnSpc>
                <a:spcPts val="4750"/>
              </a:lnSpc>
              <a:spcBef>
                <a:spcPts val="0"/>
              </a:spcBef>
              <a:spcAft>
                <a:spcPts val="0"/>
              </a:spcAft>
              <a:defRPr sz="3800" b="0">
                <a:solidFill>
                  <a:srgbClr val="1A2421"/>
                </a:solidFill>
                <a:latin typeface="Georgia"/>
              </a:defRPr>
            </a:pPr>
            <a:r>
              <a:t>construye</a:t>
            </a:r>
          </a:p>
          <a:p>
            <a:pPr>
              <a:lnSpc>
                <a:spcPts val="4750"/>
              </a:lnSpc>
              <a:spcBef>
                <a:spcPts val="0"/>
              </a:spcBef>
              <a:spcAft>
                <a:spcPts val="0"/>
              </a:spcAft>
              <a:defRPr sz="3800" b="0">
                <a:solidFill>
                  <a:srgbClr val="1A2421"/>
                </a:solidFill>
                <a:latin typeface="Georgia"/>
              </a:defRPr>
            </a:pPr>
            <a:r>
              <a:t>la forma</a:t>
            </a:r>
          </a:p>
        </p:txBody>
      </p:sp>
      <p:sp>
        <p:nvSpPr>
          <p:cNvPr id="6" name="TextBox 5"/>
          <p:cNvSpPr txBox="1"/>
          <p:nvPr/>
        </p:nvSpPr>
        <p:spPr>
          <a:xfrm>
            <a:off x="8369300" y="4000500"/>
            <a:ext cx="3175000" cy="1905000"/>
          </a:xfrm>
          <a:prstGeom prst="rect">
            <a:avLst/>
          </a:prstGeom>
          <a:noFill/>
        </p:spPr>
        <p:txBody>
          <a:bodyPr wrap="square" lIns="0" rIns="0" tIns="0" bIns="0">
            <a:spAutoFit/>
          </a:bodyPr>
          <a:lstStyle/>
          <a:p>
            <a:pPr>
              <a:lnSpc>
                <a:spcPts val="2500"/>
              </a:lnSpc>
              <a:spcBef>
                <a:spcPts val="0"/>
              </a:spcBef>
              <a:spcAft>
                <a:spcPts val="0"/>
              </a:spcAft>
              <a:defRPr sz="2000" b="0">
                <a:solidFill>
                  <a:srgbClr val="1A2421"/>
                </a:solidFill>
                <a:latin typeface="Arial"/>
              </a:defRPr>
            </a:pPr>
            <a:r>
              <a:t>El trapillo se tensa y se</a:t>
            </a:r>
          </a:p>
          <a:p>
            <a:pPr>
              <a:lnSpc>
                <a:spcPts val="2500"/>
              </a:lnSpc>
              <a:spcBef>
                <a:spcPts val="0"/>
              </a:spcBef>
              <a:spcAft>
                <a:spcPts val="0"/>
              </a:spcAft>
              <a:defRPr sz="2000" b="0">
                <a:solidFill>
                  <a:srgbClr val="1A2421"/>
                </a:solidFill>
                <a:latin typeface="Arial"/>
              </a:defRPr>
            </a:pPr>
            <a:r>
              <a:t>entrelaza. La repetición del</a:t>
            </a:r>
          </a:p>
          <a:p>
            <a:pPr>
              <a:lnSpc>
                <a:spcPts val="2500"/>
              </a:lnSpc>
              <a:spcBef>
                <a:spcPts val="0"/>
              </a:spcBef>
              <a:spcAft>
                <a:spcPts val="0"/>
              </a:spcAft>
              <a:defRPr sz="2000" b="0">
                <a:solidFill>
                  <a:srgbClr val="1A2421"/>
                </a:solidFill>
                <a:latin typeface="Arial"/>
              </a:defRPr>
            </a:pPr>
            <a:r>
              <a:t>gesto define la densidad, el</a:t>
            </a:r>
          </a:p>
          <a:p>
            <a:pPr>
              <a:lnSpc>
                <a:spcPts val="2500"/>
              </a:lnSpc>
              <a:spcBef>
                <a:spcPts val="0"/>
              </a:spcBef>
              <a:spcAft>
                <a:spcPts val="0"/>
              </a:spcAft>
              <a:defRPr sz="2000" b="0">
                <a:solidFill>
                  <a:srgbClr val="1A2421"/>
                </a:solidFill>
                <a:latin typeface="Arial"/>
              </a:defRPr>
            </a:pPr>
            <a:r>
              <a:t>ritmo y el color de las</a:t>
            </a:r>
          </a:p>
          <a:p>
            <a:pPr>
              <a:lnSpc>
                <a:spcPts val="2500"/>
              </a:lnSpc>
              <a:spcBef>
                <a:spcPts val="0"/>
              </a:spcBef>
              <a:spcAft>
                <a:spcPts val="0"/>
              </a:spcAft>
              <a:defRPr sz="2000" b="0">
                <a:solidFill>
                  <a:srgbClr val="1A2421"/>
                </a:solidFill>
                <a:latin typeface="Arial"/>
              </a:defRPr>
            </a:pPr>
            <a:r>
              <a:t>piezas.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58800" y="279400"/>
            <a:ext cx="3175000" cy="228600"/>
          </a:xfrm>
          <a:prstGeom prst="rect">
            <a:avLst/>
          </a:prstGeom>
          <a:noFill/>
        </p:spPr>
        <p:txBody>
          <a:bodyPr wrap="square" lIns="0" rIns="0" tIns="0" bIns="0">
            <a:spAutoFit/>
          </a:bodyPr>
          <a:lstStyle/>
          <a:p>
            <a:pPr>
              <a:lnSpc>
                <a:spcPts val="1250"/>
              </a:lnSpc>
              <a:spcBef>
                <a:spcPts val="0"/>
              </a:spcBef>
              <a:spcAft>
                <a:spcPts val="0"/>
              </a:spcAft>
              <a:defRPr sz="1000" b="1">
                <a:solidFill>
                  <a:srgbClr val="1A2421"/>
                </a:solidFill>
                <a:latin typeface="Arial"/>
              </a:defRPr>
            </a:pPr>
            <a:r>
              <a:t>COREKA</a:t>
            </a:r>
          </a:p>
        </p:txBody>
      </p:sp>
      <p:sp>
        <p:nvSpPr>
          <p:cNvPr id="3" name="TextBox 2"/>
          <p:cNvSpPr txBox="1"/>
          <p:nvPr/>
        </p:nvSpPr>
        <p:spPr>
          <a:xfrm>
            <a:off x="11201400" y="279400"/>
            <a:ext cx="406400" cy="228600"/>
          </a:xfrm>
          <a:prstGeom prst="rect">
            <a:avLst/>
          </a:prstGeom>
          <a:noFill/>
        </p:spPr>
        <p:txBody>
          <a:bodyPr wrap="square" lIns="0" rIns="0" tIns="0" bIns="0">
            <a:spAutoFit/>
          </a:bodyPr>
          <a:lstStyle/>
          <a:p>
            <a:pPr>
              <a:lnSpc>
                <a:spcPts val="1250"/>
              </a:lnSpc>
              <a:spcBef>
                <a:spcPts val="0"/>
              </a:spcBef>
              <a:spcAft>
                <a:spcPts val="0"/>
              </a:spcAft>
              <a:defRPr sz="1000" b="0">
                <a:solidFill>
                  <a:srgbClr val="1A2421"/>
                </a:solidFill>
                <a:latin typeface="Arial"/>
              </a:defRPr>
            </a:pPr>
            <a:r>
              <a:t>06</a:t>
            </a:r>
          </a:p>
        </p:txBody>
      </p:sp>
      <p:sp>
        <p:nvSpPr>
          <p:cNvPr id="4" name="TextBox 3"/>
          <p:cNvSpPr txBox="1"/>
          <p:nvPr/>
        </p:nvSpPr>
        <p:spPr>
          <a:xfrm>
            <a:off x="558800" y="838200"/>
            <a:ext cx="11176000" cy="825500"/>
          </a:xfrm>
          <a:prstGeom prst="rect">
            <a:avLst/>
          </a:prstGeom>
          <a:noFill/>
        </p:spPr>
        <p:txBody>
          <a:bodyPr wrap="square" lIns="0" rIns="0" tIns="0" bIns="0">
            <a:spAutoFit/>
          </a:bodyPr>
          <a:lstStyle/>
          <a:p>
            <a:pPr>
              <a:lnSpc>
                <a:spcPts val="4500"/>
              </a:lnSpc>
              <a:spcBef>
                <a:spcPts val="0"/>
              </a:spcBef>
              <a:spcAft>
                <a:spcPts val="0"/>
              </a:spcAft>
              <a:defRPr sz="3600" b="0">
                <a:solidFill>
                  <a:srgbClr val="1A2421"/>
                </a:solidFill>
                <a:latin typeface="Georgia"/>
              </a:defRPr>
            </a:pPr>
            <a:r>
              <a:t>La obra se completa con el público</a:t>
            </a:r>
          </a:p>
        </p:txBody>
      </p:sp>
      <p:pic>
        <p:nvPicPr>
          <p:cNvPr id="5" name="Picture 4" descr="cuerpo-participacion.jpg"/>
          <p:cNvPicPr>
            <a:picLocks noChangeAspect="1"/>
          </p:cNvPicPr>
          <p:nvPr/>
        </p:nvPicPr>
        <p:blipFill>
          <a:blip r:embed="rId2"/>
          <a:srcRect t="13514" b="13514"/>
          <a:stretch>
            <a:fillRect/>
          </a:stretch>
        </p:blipFill>
        <p:spPr>
          <a:xfrm>
            <a:off x="558800" y="1955800"/>
            <a:ext cx="7518399" cy="4114800"/>
          </a:xfrm>
          <a:prstGeom prst="rect">
            <a:avLst/>
          </a:prstGeom>
        </p:spPr>
      </p:pic>
      <p:sp>
        <p:nvSpPr>
          <p:cNvPr id="6" name="TextBox 5"/>
          <p:cNvSpPr txBox="1"/>
          <p:nvPr/>
        </p:nvSpPr>
        <p:spPr>
          <a:xfrm>
            <a:off x="8623300" y="2349500"/>
            <a:ext cx="3048000" cy="1714500"/>
          </a:xfrm>
          <a:prstGeom prst="rect">
            <a:avLst/>
          </a:prstGeom>
          <a:noFill/>
        </p:spPr>
        <p:txBody>
          <a:bodyPr wrap="square" lIns="0" rIns="0" tIns="0" bIns="0">
            <a:spAutoFit/>
          </a:bodyPr>
          <a:lstStyle/>
          <a:p>
            <a:pPr>
              <a:lnSpc>
                <a:spcPts val="4000"/>
              </a:lnSpc>
              <a:spcBef>
                <a:spcPts val="0"/>
              </a:spcBef>
              <a:spcAft>
                <a:spcPts val="0"/>
              </a:spcAft>
              <a:defRPr sz="3200" b="0">
                <a:solidFill>
                  <a:srgbClr val="1A2421"/>
                </a:solidFill>
                <a:latin typeface="Georgia"/>
              </a:defRPr>
            </a:pPr>
            <a:r>
              <a:t>Participar</a:t>
            </a:r>
          </a:p>
          <a:p>
            <a:pPr>
              <a:lnSpc>
                <a:spcPts val="4000"/>
              </a:lnSpc>
              <a:spcBef>
                <a:spcPts val="0"/>
              </a:spcBef>
              <a:spcAft>
                <a:spcPts val="0"/>
              </a:spcAft>
              <a:defRPr sz="3200" b="0">
                <a:solidFill>
                  <a:srgbClr val="1A2421"/>
                </a:solidFill>
                <a:latin typeface="Georgia"/>
              </a:defRPr>
            </a:pPr>
            <a:r>
              <a:t>es dejar</a:t>
            </a:r>
          </a:p>
          <a:p>
            <a:pPr>
              <a:lnSpc>
                <a:spcPts val="4000"/>
              </a:lnSpc>
              <a:spcBef>
                <a:spcPts val="0"/>
              </a:spcBef>
              <a:spcAft>
                <a:spcPts val="0"/>
              </a:spcAft>
              <a:defRPr sz="3200" b="0">
                <a:solidFill>
                  <a:srgbClr val="1A2421"/>
                </a:solidFill>
                <a:latin typeface="Georgia"/>
              </a:defRPr>
            </a:pPr>
            <a:r>
              <a:t>una huella</a:t>
            </a:r>
          </a:p>
        </p:txBody>
      </p:sp>
      <p:sp>
        <p:nvSpPr>
          <p:cNvPr id="7" name="TextBox 6"/>
          <p:cNvSpPr txBox="1"/>
          <p:nvPr/>
        </p:nvSpPr>
        <p:spPr>
          <a:xfrm>
            <a:off x="8623300" y="4648200"/>
            <a:ext cx="2984500" cy="1397000"/>
          </a:xfrm>
          <a:prstGeom prst="rect">
            <a:avLst/>
          </a:prstGeom>
          <a:noFill/>
        </p:spPr>
        <p:txBody>
          <a:bodyPr wrap="square" lIns="0" rIns="0" tIns="0" bIns="0">
            <a:spAutoFit/>
          </a:bodyPr>
          <a:lstStyle/>
          <a:p>
            <a:pPr>
              <a:lnSpc>
                <a:spcPts val="2375"/>
              </a:lnSpc>
              <a:spcBef>
                <a:spcPts val="0"/>
              </a:spcBef>
              <a:spcAft>
                <a:spcPts val="0"/>
              </a:spcAft>
              <a:defRPr sz="1900" b="0">
                <a:solidFill>
                  <a:srgbClr val="65716A"/>
                </a:solidFill>
                <a:latin typeface="Arial"/>
              </a:defRPr>
            </a:pPr>
            <a:r>
              <a:t>Las aportaciones de</a:t>
            </a:r>
          </a:p>
          <a:p>
            <a:pPr>
              <a:lnSpc>
                <a:spcPts val="2375"/>
              </a:lnSpc>
              <a:spcBef>
                <a:spcPts val="0"/>
              </a:spcBef>
              <a:spcAft>
                <a:spcPts val="0"/>
              </a:spcAft>
              <a:defRPr sz="1900" b="0">
                <a:solidFill>
                  <a:srgbClr val="65716A"/>
                </a:solidFill>
                <a:latin typeface="Arial"/>
              </a:defRPr>
            </a:pPr>
            <a:r>
              <a:t>quienes tejen permanecen</a:t>
            </a:r>
          </a:p>
          <a:p>
            <a:pPr>
              <a:lnSpc>
                <a:spcPts val="2375"/>
              </a:lnSpc>
              <a:spcBef>
                <a:spcPts val="0"/>
              </a:spcBef>
              <a:spcAft>
                <a:spcPts val="0"/>
              </a:spcAft>
              <a:defRPr sz="1900" b="0">
                <a:solidFill>
                  <a:srgbClr val="65716A"/>
                </a:solidFill>
                <a:latin typeface="Arial"/>
              </a:defRPr>
            </a:pPr>
            <a:r>
              <a:t>en los nudos y en los</a:t>
            </a:r>
          </a:p>
          <a:p>
            <a:pPr>
              <a:lnSpc>
                <a:spcPts val="2375"/>
              </a:lnSpc>
              <a:spcBef>
                <a:spcPts val="0"/>
              </a:spcBef>
              <a:spcAft>
                <a:spcPts val="0"/>
              </a:spcAft>
              <a:defRPr sz="1900" b="0">
                <a:solidFill>
                  <a:srgbClr val="65716A"/>
                </a:solidFill>
                <a:latin typeface="Arial"/>
              </a:defRPr>
            </a:pPr>
            <a:r>
              <a:t>fragmentos de color.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58800" y="279400"/>
            <a:ext cx="3175000" cy="228600"/>
          </a:xfrm>
          <a:prstGeom prst="rect">
            <a:avLst/>
          </a:prstGeom>
          <a:noFill/>
        </p:spPr>
        <p:txBody>
          <a:bodyPr wrap="square" lIns="0" rIns="0" tIns="0" bIns="0">
            <a:spAutoFit/>
          </a:bodyPr>
          <a:lstStyle/>
          <a:p>
            <a:pPr>
              <a:lnSpc>
                <a:spcPts val="1250"/>
              </a:lnSpc>
              <a:spcBef>
                <a:spcPts val="0"/>
              </a:spcBef>
              <a:spcAft>
                <a:spcPts val="0"/>
              </a:spcAft>
              <a:defRPr sz="1000" b="1">
                <a:solidFill>
                  <a:srgbClr val="1A2421"/>
                </a:solidFill>
                <a:latin typeface="Arial"/>
              </a:defRPr>
            </a:pPr>
            <a:r>
              <a:t>COREKA</a:t>
            </a:r>
          </a:p>
        </p:txBody>
      </p:sp>
      <p:sp>
        <p:nvSpPr>
          <p:cNvPr id="3" name="TextBox 2"/>
          <p:cNvSpPr txBox="1"/>
          <p:nvPr/>
        </p:nvSpPr>
        <p:spPr>
          <a:xfrm>
            <a:off x="11201400" y="279400"/>
            <a:ext cx="406400" cy="228600"/>
          </a:xfrm>
          <a:prstGeom prst="rect">
            <a:avLst/>
          </a:prstGeom>
          <a:noFill/>
        </p:spPr>
        <p:txBody>
          <a:bodyPr wrap="square" lIns="0" rIns="0" tIns="0" bIns="0">
            <a:spAutoFit/>
          </a:bodyPr>
          <a:lstStyle/>
          <a:p>
            <a:pPr>
              <a:lnSpc>
                <a:spcPts val="1250"/>
              </a:lnSpc>
              <a:spcBef>
                <a:spcPts val="0"/>
              </a:spcBef>
              <a:spcAft>
                <a:spcPts val="0"/>
              </a:spcAft>
              <a:defRPr sz="1000" b="0">
                <a:solidFill>
                  <a:srgbClr val="1A2421"/>
                </a:solidFill>
                <a:latin typeface="Arial"/>
              </a:defRPr>
            </a:pPr>
            <a:r>
              <a:t>07</a:t>
            </a:r>
          </a:p>
        </p:txBody>
      </p:sp>
      <p:sp>
        <p:nvSpPr>
          <p:cNvPr id="4" name="TextBox 3"/>
          <p:cNvSpPr txBox="1"/>
          <p:nvPr/>
        </p:nvSpPr>
        <p:spPr>
          <a:xfrm>
            <a:off x="558800" y="876300"/>
            <a:ext cx="10795000" cy="762000"/>
          </a:xfrm>
          <a:prstGeom prst="rect">
            <a:avLst/>
          </a:prstGeom>
          <a:noFill/>
        </p:spPr>
        <p:txBody>
          <a:bodyPr wrap="square" lIns="0" rIns="0" tIns="0" bIns="0">
            <a:spAutoFit/>
          </a:bodyPr>
          <a:lstStyle/>
          <a:p>
            <a:pPr>
              <a:lnSpc>
                <a:spcPts val="4875"/>
              </a:lnSpc>
              <a:spcBef>
                <a:spcPts val="0"/>
              </a:spcBef>
              <a:spcAft>
                <a:spcPts val="0"/>
              </a:spcAft>
              <a:defRPr sz="3900" b="0">
                <a:solidFill>
                  <a:srgbClr val="1A2421"/>
                </a:solidFill>
                <a:latin typeface="Georgia"/>
              </a:defRPr>
            </a:pPr>
            <a:r>
              <a:t>Presentación en otros espacios</a:t>
            </a:r>
          </a:p>
        </p:txBody>
      </p:sp>
      <p:sp>
        <p:nvSpPr>
          <p:cNvPr id="5" name="TextBox 4"/>
          <p:cNvSpPr txBox="1"/>
          <p:nvPr/>
        </p:nvSpPr>
        <p:spPr>
          <a:xfrm>
            <a:off x="584200" y="1943100"/>
            <a:ext cx="10160000" cy="787400"/>
          </a:xfrm>
          <a:prstGeom prst="rect">
            <a:avLst/>
          </a:prstGeom>
          <a:noFill/>
        </p:spPr>
        <p:txBody>
          <a:bodyPr wrap="square" lIns="0" rIns="0" tIns="0" bIns="0">
            <a:spAutoFit/>
          </a:bodyPr>
          <a:lstStyle/>
          <a:p>
            <a:pPr>
              <a:lnSpc>
                <a:spcPts val="2875"/>
              </a:lnSpc>
              <a:spcBef>
                <a:spcPts val="0"/>
              </a:spcBef>
              <a:spcAft>
                <a:spcPts val="0"/>
              </a:spcAft>
              <a:defRPr sz="2300" b="0">
                <a:solidFill>
                  <a:srgbClr val="1A2421"/>
                </a:solidFill>
                <a:latin typeface="Arial"/>
              </a:defRPr>
            </a:pPr>
            <a:r>
              <a:t>Una nueva instalación parte del lugar y de las personas que lo ocuparán.</a:t>
            </a:r>
          </a:p>
        </p:txBody>
      </p:sp>
      <p:cxnSp>
        <p:nvCxnSpPr>
          <p:cNvPr id="6" name="Connector 5"/>
          <p:cNvCxnSpPr/>
          <p:nvPr/>
        </p:nvCxnSpPr>
        <p:spPr>
          <a:xfrm>
            <a:off x="584200" y="3073400"/>
            <a:ext cx="10972800" cy="0"/>
          </a:xfrm>
          <a:prstGeom prst="line">
            <a:avLst/>
          </a:prstGeom>
          <a:ln w="6350">
            <a:solidFill>
              <a:srgbClr val="C3C8B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84200" y="3200400"/>
            <a:ext cx="2286000" cy="495299"/>
          </a:xfrm>
          <a:prstGeom prst="rect">
            <a:avLst/>
          </a:prstGeom>
          <a:noFill/>
        </p:spPr>
        <p:txBody>
          <a:bodyPr wrap="square" lIns="0" rIns="0" tIns="0" bIns="0">
            <a:spAutoFit/>
          </a:bodyPr>
          <a:lstStyle/>
          <a:p>
            <a:pPr>
              <a:lnSpc>
                <a:spcPts val="2375"/>
              </a:lnSpc>
              <a:spcBef>
                <a:spcPts val="0"/>
              </a:spcBef>
              <a:spcAft>
                <a:spcPts val="0"/>
              </a:spcAft>
              <a:defRPr sz="1900" b="1">
                <a:solidFill>
                  <a:srgbClr val="1A2421"/>
                </a:solidFill>
                <a:latin typeface="Arial"/>
              </a:defRPr>
            </a:pPr>
            <a:r>
              <a:t>Espacio</a:t>
            </a:r>
          </a:p>
        </p:txBody>
      </p:sp>
      <p:sp>
        <p:nvSpPr>
          <p:cNvPr id="8" name="TextBox 7"/>
          <p:cNvSpPr txBox="1"/>
          <p:nvPr/>
        </p:nvSpPr>
        <p:spPr>
          <a:xfrm>
            <a:off x="3111500" y="3200400"/>
            <a:ext cx="8255000" cy="558800"/>
          </a:xfrm>
          <a:prstGeom prst="rect">
            <a:avLst/>
          </a:prstGeom>
          <a:noFill/>
        </p:spPr>
        <p:txBody>
          <a:bodyPr wrap="square" lIns="0" rIns="0" tIns="0" bIns="0">
            <a:spAutoFit/>
          </a:bodyPr>
          <a:lstStyle/>
          <a:p>
            <a:pPr>
              <a:lnSpc>
                <a:spcPts val="2250"/>
              </a:lnSpc>
              <a:spcBef>
                <a:spcPts val="0"/>
              </a:spcBef>
              <a:spcAft>
                <a:spcPts val="0"/>
              </a:spcAft>
              <a:defRPr sz="1800" b="0">
                <a:solidFill>
                  <a:srgbClr val="1A2421"/>
                </a:solidFill>
                <a:latin typeface="Arial"/>
              </a:defRPr>
            </a:pPr>
            <a:r>
              <a:t>Estudiar los soportes, las circulaciones y las zonas de encuentro.</a:t>
            </a:r>
          </a:p>
        </p:txBody>
      </p:sp>
      <p:cxnSp>
        <p:nvCxnSpPr>
          <p:cNvPr id="9" name="Connector 8"/>
          <p:cNvCxnSpPr/>
          <p:nvPr/>
        </p:nvCxnSpPr>
        <p:spPr>
          <a:xfrm>
            <a:off x="584200" y="3810000"/>
            <a:ext cx="10972800" cy="0"/>
          </a:xfrm>
          <a:prstGeom prst="line">
            <a:avLst/>
          </a:prstGeom>
          <a:ln w="6350">
            <a:solidFill>
              <a:srgbClr val="C3C8BF"/>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84200" y="3937000"/>
            <a:ext cx="2286000" cy="495299"/>
          </a:xfrm>
          <a:prstGeom prst="rect">
            <a:avLst/>
          </a:prstGeom>
          <a:noFill/>
        </p:spPr>
        <p:txBody>
          <a:bodyPr wrap="square" lIns="0" rIns="0" tIns="0" bIns="0">
            <a:spAutoFit/>
          </a:bodyPr>
          <a:lstStyle/>
          <a:p>
            <a:pPr>
              <a:lnSpc>
                <a:spcPts val="2375"/>
              </a:lnSpc>
              <a:spcBef>
                <a:spcPts val="0"/>
              </a:spcBef>
              <a:spcAft>
                <a:spcPts val="0"/>
              </a:spcAft>
              <a:defRPr sz="1900" b="1">
                <a:solidFill>
                  <a:srgbClr val="1A2421"/>
                </a:solidFill>
                <a:latin typeface="Arial"/>
              </a:defRPr>
            </a:pPr>
            <a:r>
              <a:t>Montaje</a:t>
            </a:r>
          </a:p>
        </p:txBody>
      </p:sp>
      <p:sp>
        <p:nvSpPr>
          <p:cNvPr id="11" name="TextBox 10"/>
          <p:cNvSpPr txBox="1"/>
          <p:nvPr/>
        </p:nvSpPr>
        <p:spPr>
          <a:xfrm>
            <a:off x="3111500" y="3937000"/>
            <a:ext cx="8255000" cy="558800"/>
          </a:xfrm>
          <a:prstGeom prst="rect">
            <a:avLst/>
          </a:prstGeom>
          <a:noFill/>
        </p:spPr>
        <p:txBody>
          <a:bodyPr wrap="square" lIns="0" rIns="0" tIns="0" bIns="0">
            <a:spAutoFit/>
          </a:bodyPr>
          <a:lstStyle/>
          <a:p>
            <a:pPr>
              <a:lnSpc>
                <a:spcPts val="2250"/>
              </a:lnSpc>
              <a:spcBef>
                <a:spcPts val="0"/>
              </a:spcBef>
              <a:spcAft>
                <a:spcPts val="0"/>
              </a:spcAft>
              <a:defRPr sz="1800" b="0">
                <a:solidFill>
                  <a:srgbClr val="1A2421"/>
                </a:solidFill>
                <a:latin typeface="Arial"/>
              </a:defRPr>
            </a:pPr>
            <a:r>
              <a:t>Acordar anclajes y tensiones con el equipo del espacio anfitrión.</a:t>
            </a:r>
          </a:p>
        </p:txBody>
      </p:sp>
      <p:cxnSp>
        <p:nvCxnSpPr>
          <p:cNvPr id="12" name="Connector 11"/>
          <p:cNvCxnSpPr/>
          <p:nvPr/>
        </p:nvCxnSpPr>
        <p:spPr>
          <a:xfrm>
            <a:off x="584200" y="4546600"/>
            <a:ext cx="10972800" cy="0"/>
          </a:xfrm>
          <a:prstGeom prst="line">
            <a:avLst/>
          </a:prstGeom>
          <a:ln w="6350">
            <a:solidFill>
              <a:srgbClr val="C3C8BF"/>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84200" y="4673600"/>
            <a:ext cx="2286000" cy="495299"/>
          </a:xfrm>
          <a:prstGeom prst="rect">
            <a:avLst/>
          </a:prstGeom>
          <a:noFill/>
        </p:spPr>
        <p:txBody>
          <a:bodyPr wrap="square" lIns="0" rIns="0" tIns="0" bIns="0">
            <a:spAutoFit/>
          </a:bodyPr>
          <a:lstStyle/>
          <a:p>
            <a:pPr>
              <a:lnSpc>
                <a:spcPts val="2375"/>
              </a:lnSpc>
              <a:spcBef>
                <a:spcPts val="0"/>
              </a:spcBef>
              <a:spcAft>
                <a:spcPts val="0"/>
              </a:spcAft>
              <a:defRPr sz="1900" b="1">
                <a:solidFill>
                  <a:srgbClr val="1A2421"/>
                </a:solidFill>
                <a:latin typeface="Arial"/>
              </a:defRPr>
            </a:pPr>
            <a:r>
              <a:t>Participación</a:t>
            </a:r>
          </a:p>
        </p:txBody>
      </p:sp>
      <p:sp>
        <p:nvSpPr>
          <p:cNvPr id="14" name="TextBox 13"/>
          <p:cNvSpPr txBox="1"/>
          <p:nvPr/>
        </p:nvSpPr>
        <p:spPr>
          <a:xfrm>
            <a:off x="3111500" y="4673600"/>
            <a:ext cx="8255000" cy="558800"/>
          </a:xfrm>
          <a:prstGeom prst="rect">
            <a:avLst/>
          </a:prstGeom>
          <a:noFill/>
        </p:spPr>
        <p:txBody>
          <a:bodyPr wrap="square" lIns="0" rIns="0" tIns="0" bIns="0">
            <a:spAutoFit/>
          </a:bodyPr>
          <a:lstStyle/>
          <a:p>
            <a:pPr>
              <a:lnSpc>
                <a:spcPts val="2250"/>
              </a:lnSpc>
              <a:spcBef>
                <a:spcPts val="0"/>
              </a:spcBef>
              <a:spcAft>
                <a:spcPts val="0"/>
              </a:spcAft>
              <a:defRPr sz="1800" b="0">
                <a:solidFill>
                  <a:srgbClr val="1A2421"/>
                </a:solidFill>
                <a:latin typeface="Arial"/>
              </a:defRPr>
            </a:pPr>
            <a:r>
              <a:t>Definir acompañamiento, materiales y tiempos para el tejido colectivo.</a:t>
            </a:r>
          </a:p>
        </p:txBody>
      </p:sp>
      <p:cxnSp>
        <p:nvCxnSpPr>
          <p:cNvPr id="15" name="Connector 14"/>
          <p:cNvCxnSpPr/>
          <p:nvPr/>
        </p:nvCxnSpPr>
        <p:spPr>
          <a:xfrm>
            <a:off x="584200" y="5283200"/>
            <a:ext cx="10972800" cy="0"/>
          </a:xfrm>
          <a:prstGeom prst="line">
            <a:avLst/>
          </a:prstGeom>
          <a:ln w="6350">
            <a:solidFill>
              <a:srgbClr val="C3C8BF"/>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84200" y="5410200"/>
            <a:ext cx="2286000" cy="495299"/>
          </a:xfrm>
          <a:prstGeom prst="rect">
            <a:avLst/>
          </a:prstGeom>
          <a:noFill/>
        </p:spPr>
        <p:txBody>
          <a:bodyPr wrap="square" lIns="0" rIns="0" tIns="0" bIns="0">
            <a:spAutoFit/>
          </a:bodyPr>
          <a:lstStyle/>
          <a:p>
            <a:pPr>
              <a:lnSpc>
                <a:spcPts val="2375"/>
              </a:lnSpc>
              <a:spcBef>
                <a:spcPts val="0"/>
              </a:spcBef>
              <a:spcAft>
                <a:spcPts val="0"/>
              </a:spcAft>
              <a:defRPr sz="1900" b="1">
                <a:solidFill>
                  <a:srgbClr val="1A2421"/>
                </a:solidFill>
                <a:latin typeface="Arial"/>
              </a:defRPr>
            </a:pPr>
            <a:r>
              <a:t>Desmontaje</a:t>
            </a:r>
          </a:p>
        </p:txBody>
      </p:sp>
      <p:sp>
        <p:nvSpPr>
          <p:cNvPr id="17" name="TextBox 16"/>
          <p:cNvSpPr txBox="1"/>
          <p:nvPr/>
        </p:nvSpPr>
        <p:spPr>
          <a:xfrm>
            <a:off x="3111500" y="5410200"/>
            <a:ext cx="8255000" cy="558800"/>
          </a:xfrm>
          <a:prstGeom prst="rect">
            <a:avLst/>
          </a:prstGeom>
          <a:noFill/>
        </p:spPr>
        <p:txBody>
          <a:bodyPr wrap="square" lIns="0" rIns="0" tIns="0" bIns="0">
            <a:spAutoFit/>
          </a:bodyPr>
          <a:lstStyle/>
          <a:p>
            <a:pPr>
              <a:lnSpc>
                <a:spcPts val="2250"/>
              </a:lnSpc>
              <a:spcBef>
                <a:spcPts val="0"/>
              </a:spcBef>
              <a:spcAft>
                <a:spcPts val="0"/>
              </a:spcAft>
              <a:defRPr sz="1800" b="0">
                <a:solidFill>
                  <a:srgbClr val="1A2421"/>
                </a:solidFill>
                <a:latin typeface="Arial"/>
              </a:defRPr>
            </a:pPr>
            <a:r>
              <a:t>Planificar la recogida de la trama y su registro como memoria de la acción.</a:t>
            </a:r>
          </a:p>
        </p:txBody>
      </p:sp>
      <p:sp>
        <p:nvSpPr>
          <p:cNvPr id="18" name="TextBox 17"/>
          <p:cNvSpPr txBox="1"/>
          <p:nvPr/>
        </p:nvSpPr>
        <p:spPr>
          <a:xfrm>
            <a:off x="584200" y="6426200"/>
            <a:ext cx="11049000" cy="279400"/>
          </a:xfrm>
          <a:prstGeom prst="rect">
            <a:avLst/>
          </a:prstGeom>
          <a:noFill/>
        </p:spPr>
        <p:txBody>
          <a:bodyPr wrap="square" lIns="0" rIns="0" tIns="0" bIns="0">
            <a:spAutoFit/>
          </a:bodyPr>
          <a:lstStyle/>
          <a:p>
            <a:pPr>
              <a:lnSpc>
                <a:spcPts val="1375"/>
              </a:lnSpc>
              <a:spcBef>
                <a:spcPts val="0"/>
              </a:spcBef>
              <a:spcAft>
                <a:spcPts val="0"/>
              </a:spcAft>
              <a:defRPr sz="1100" b="0">
                <a:solidFill>
                  <a:srgbClr val="65716A"/>
                </a:solidFill>
                <a:latin typeface="Arial"/>
              </a:defRPr>
            </a:pPr>
            <a:r>
              <a:t>Criterios para una futura adaptación. El diseño de cada sede se acuerda con su equipo.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58800" y="279400"/>
            <a:ext cx="3175000" cy="228600"/>
          </a:xfrm>
          <a:prstGeom prst="rect">
            <a:avLst/>
          </a:prstGeom>
          <a:noFill/>
        </p:spPr>
        <p:txBody>
          <a:bodyPr wrap="square" lIns="0" rIns="0" tIns="0" bIns="0">
            <a:spAutoFit/>
          </a:bodyPr>
          <a:lstStyle/>
          <a:p>
            <a:pPr>
              <a:lnSpc>
                <a:spcPts val="1250"/>
              </a:lnSpc>
              <a:spcBef>
                <a:spcPts val="0"/>
              </a:spcBef>
              <a:spcAft>
                <a:spcPts val="0"/>
              </a:spcAft>
              <a:defRPr sz="1000" b="1">
                <a:solidFill>
                  <a:srgbClr val="1A2421"/>
                </a:solidFill>
                <a:latin typeface="Arial"/>
              </a:defRPr>
            </a:pPr>
            <a:r>
              <a:t>COREKA</a:t>
            </a:r>
          </a:p>
        </p:txBody>
      </p:sp>
      <p:sp>
        <p:nvSpPr>
          <p:cNvPr id="3" name="TextBox 2"/>
          <p:cNvSpPr txBox="1"/>
          <p:nvPr/>
        </p:nvSpPr>
        <p:spPr>
          <a:xfrm>
            <a:off x="11201400" y="279400"/>
            <a:ext cx="406400" cy="228600"/>
          </a:xfrm>
          <a:prstGeom prst="rect">
            <a:avLst/>
          </a:prstGeom>
          <a:noFill/>
        </p:spPr>
        <p:txBody>
          <a:bodyPr wrap="square" lIns="0" rIns="0" tIns="0" bIns="0">
            <a:spAutoFit/>
          </a:bodyPr>
          <a:lstStyle/>
          <a:p>
            <a:pPr>
              <a:lnSpc>
                <a:spcPts val="1250"/>
              </a:lnSpc>
              <a:spcBef>
                <a:spcPts val="0"/>
              </a:spcBef>
              <a:spcAft>
                <a:spcPts val="0"/>
              </a:spcAft>
              <a:defRPr sz="1000" b="0">
                <a:solidFill>
                  <a:srgbClr val="1A2421"/>
                </a:solidFill>
                <a:latin typeface="Arial"/>
              </a:defRPr>
            </a:pPr>
            <a:r>
              <a:t>08</a:t>
            </a:r>
          </a:p>
        </p:txBody>
      </p:sp>
      <p:pic>
        <p:nvPicPr>
          <p:cNvPr id="4" name="Picture 3" descr="04b09efc65ab62b5891ababd.jpg"/>
          <p:cNvPicPr>
            <a:picLocks noChangeAspect="1"/>
          </p:cNvPicPr>
          <p:nvPr/>
        </p:nvPicPr>
        <p:blipFill>
          <a:blip r:embed="rId2"/>
          <a:srcRect l="21875" r="21875"/>
          <a:stretch>
            <a:fillRect/>
          </a:stretch>
        </p:blipFill>
        <p:spPr>
          <a:xfrm>
            <a:off x="5334000" y="0"/>
            <a:ext cx="6858000" cy="6858000"/>
          </a:xfrm>
          <a:prstGeom prst="rect">
            <a:avLst/>
          </a:prstGeom>
        </p:spPr>
      </p:pic>
      <p:sp>
        <p:nvSpPr>
          <p:cNvPr id="5" name="TextBox 4"/>
          <p:cNvSpPr txBox="1"/>
          <p:nvPr/>
        </p:nvSpPr>
        <p:spPr>
          <a:xfrm>
            <a:off x="558800" y="1739900"/>
            <a:ext cx="4445000" cy="2413000"/>
          </a:xfrm>
          <a:prstGeom prst="rect">
            <a:avLst/>
          </a:prstGeom>
          <a:noFill/>
        </p:spPr>
        <p:txBody>
          <a:bodyPr wrap="square" lIns="0" rIns="0" tIns="0" bIns="0">
            <a:spAutoFit/>
          </a:bodyPr>
          <a:lstStyle/>
          <a:p>
            <a:pPr>
              <a:lnSpc>
                <a:spcPts val="5500"/>
              </a:lnSpc>
              <a:spcBef>
                <a:spcPts val="0"/>
              </a:spcBef>
              <a:spcAft>
                <a:spcPts val="0"/>
              </a:spcAft>
              <a:defRPr sz="4400" b="0">
                <a:solidFill>
                  <a:srgbClr val="1A2421"/>
                </a:solidFill>
                <a:latin typeface="Georgia"/>
              </a:defRPr>
            </a:pPr>
            <a:r>
              <a:t>Un espacio</a:t>
            </a:r>
          </a:p>
          <a:p>
            <a:pPr>
              <a:lnSpc>
                <a:spcPts val="5500"/>
              </a:lnSpc>
              <a:spcBef>
                <a:spcPts val="0"/>
              </a:spcBef>
              <a:spcAft>
                <a:spcPts val="0"/>
              </a:spcAft>
              <a:defRPr sz="4400" b="0">
                <a:solidFill>
                  <a:srgbClr val="1A2421"/>
                </a:solidFill>
                <a:latin typeface="Georgia"/>
              </a:defRPr>
            </a:pPr>
            <a:r>
              <a:t>que guarda</a:t>
            </a:r>
          </a:p>
          <a:p>
            <a:pPr>
              <a:lnSpc>
                <a:spcPts val="5500"/>
              </a:lnSpc>
              <a:spcBef>
                <a:spcPts val="0"/>
              </a:spcBef>
              <a:spcAft>
                <a:spcPts val="0"/>
              </a:spcAft>
              <a:defRPr sz="4400" b="0">
                <a:solidFill>
                  <a:srgbClr val="1A2421"/>
                </a:solidFill>
                <a:latin typeface="Georgia"/>
              </a:defRPr>
            </a:pPr>
            <a:r>
              <a:t>el gesto.</a:t>
            </a:r>
          </a:p>
        </p:txBody>
      </p:sp>
      <p:sp>
        <p:nvSpPr>
          <p:cNvPr id="6" name="TextBox 5"/>
          <p:cNvSpPr txBox="1"/>
          <p:nvPr/>
        </p:nvSpPr>
        <p:spPr>
          <a:xfrm>
            <a:off x="584200" y="5054600"/>
            <a:ext cx="4190999" cy="508000"/>
          </a:xfrm>
          <a:prstGeom prst="rect">
            <a:avLst/>
          </a:prstGeom>
          <a:noFill/>
        </p:spPr>
        <p:txBody>
          <a:bodyPr wrap="square" lIns="0" rIns="0" tIns="0" bIns="0">
            <a:spAutoFit/>
          </a:bodyPr>
          <a:lstStyle/>
          <a:p>
            <a:pPr>
              <a:lnSpc>
                <a:spcPts val="3125"/>
              </a:lnSpc>
              <a:spcBef>
                <a:spcPts val="0"/>
              </a:spcBef>
              <a:spcAft>
                <a:spcPts val="0"/>
              </a:spcAft>
              <a:defRPr sz="2500" b="0">
                <a:solidFill>
                  <a:srgbClr val="1A2421"/>
                </a:solidFill>
                <a:latin typeface="Georgia"/>
              </a:defRPr>
            </a:pPr>
            <a:r>
              <a:t>Cuerpo Travesía</a:t>
            </a:r>
          </a:p>
        </p:txBody>
      </p:sp>
      <p:sp>
        <p:nvSpPr>
          <p:cNvPr id="7" name="TextBox 6"/>
          <p:cNvSpPr txBox="1"/>
          <p:nvPr/>
        </p:nvSpPr>
        <p:spPr>
          <a:xfrm>
            <a:off x="584200" y="5842000"/>
            <a:ext cx="4318000" cy="736600"/>
          </a:xfrm>
          <a:prstGeom prst="rect">
            <a:avLst/>
          </a:prstGeom>
          <a:noFill/>
        </p:spPr>
        <p:txBody>
          <a:bodyPr wrap="square" lIns="0" rIns="0" tIns="0" bIns="0">
            <a:spAutoFit/>
          </a:bodyPr>
          <a:lstStyle/>
          <a:p>
            <a:pPr>
              <a:lnSpc>
                <a:spcPts val="2000"/>
              </a:lnSpc>
              <a:spcBef>
                <a:spcPts val="0"/>
              </a:spcBef>
              <a:spcAft>
                <a:spcPts val="0"/>
              </a:spcAft>
              <a:defRPr sz="1600" b="0">
                <a:solidFill>
                  <a:srgbClr val="65716A"/>
                </a:solidFill>
                <a:latin typeface="Arial"/>
              </a:defRPr>
            </a:pPr>
            <a:r>
              <a:t>COREKA</a:t>
            </a:r>
          </a:p>
          <a:p>
            <a:pPr>
              <a:lnSpc>
                <a:spcPts val="2000"/>
              </a:lnSpc>
              <a:spcBef>
                <a:spcPts val="0"/>
              </a:spcBef>
              <a:spcAft>
                <a:spcPts val="0"/>
              </a:spcAft>
              <a:defRPr sz="1600" b="0">
                <a:solidFill>
                  <a:srgbClr val="65716A"/>
                </a:solidFill>
                <a:latin typeface="Arial"/>
              </a:defRPr>
            </a:pPr>
            <a:r>
              <a:t>Carolina Quintero Arboleda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